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074620d7424fc0" /><Relationship Type="http://schemas.openxmlformats.org/officeDocument/2006/relationships/extended-properties" Target="/docProps/app.xml" Id="Rf9e6aa13086140eb" /><Relationship Type="http://schemas.openxmlformats.org/officeDocument/2006/relationships/officeDocument" Target="/ppt/presentation.xml" Id="R1ceaecd8d37247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3a4878c205481c"/>
  </p:sldMasterIdLst>
  <p:notesMasterIdLst>
    <p:notesMasterId xmlns:r="http://schemas.openxmlformats.org/officeDocument/2006/relationships" r:id="R6a71732f2d074aca"/>
  </p:notesMasterIdLst>
  <p:sldIdLst>
    <p:sldId xmlns:r="http://schemas.openxmlformats.org/officeDocument/2006/relationships" id="256" r:id="R25f32b008a5541fb"/>
    <p:sldId xmlns:r="http://schemas.openxmlformats.org/officeDocument/2006/relationships" id="257" r:id="R243f803279cc4e0a"/>
    <p:sldId xmlns:r="http://schemas.openxmlformats.org/officeDocument/2006/relationships" id="258" r:id="R3840f7168d0547c0"/>
    <p:sldId xmlns:r="http://schemas.openxmlformats.org/officeDocument/2006/relationships" id="259" r:id="R170f4342f1904f32"/>
    <p:sldId xmlns:r="http://schemas.openxmlformats.org/officeDocument/2006/relationships" id="260" r:id="Rb3c55e432f384f6a"/>
    <p:sldId xmlns:r="http://schemas.openxmlformats.org/officeDocument/2006/relationships" id="261" r:id="Rcd99a597acf44ebf"/>
    <p:sldId xmlns:r="http://schemas.openxmlformats.org/officeDocument/2006/relationships" id="262" r:id="R433f4d4f4dfa4dfb"/>
    <p:sldId xmlns:r="http://schemas.openxmlformats.org/officeDocument/2006/relationships" id="263" r:id="R7b49542a6dec407c"/>
    <p:sldId xmlns:r="http://schemas.openxmlformats.org/officeDocument/2006/relationships" id="264" r:id="Rb84dbde6ce4b4af5"/>
    <p:sldId xmlns:r="http://schemas.openxmlformats.org/officeDocument/2006/relationships" id="265" r:id="R196e5ab529254a91"/>
    <p:sldId xmlns:r="http://schemas.openxmlformats.org/officeDocument/2006/relationships" id="266" r:id="R17ad9d8ba68d409f"/>
    <p:sldId xmlns:r="http://schemas.openxmlformats.org/officeDocument/2006/relationships" id="267" r:id="R2e946bd4adb74583"/>
    <p:sldId xmlns:r="http://schemas.openxmlformats.org/officeDocument/2006/relationships" id="268" r:id="Rd347080da37a430b"/>
    <p:sldId xmlns:r="http://schemas.openxmlformats.org/officeDocument/2006/relationships" id="269" r:id="R4166d464441d42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15f101739d4539" /><Relationship Type="http://schemas.openxmlformats.org/officeDocument/2006/relationships/slideMaster" Target="/ppt/slideMasters/slideMaster1.xml" Id="R2b3a4878c205481c" /><Relationship Type="http://schemas.openxmlformats.org/officeDocument/2006/relationships/notesMaster" Target="/ppt/notesMasters/notesMaster1.xml" Id="R6a71732f2d074aca" /><Relationship Type="http://schemas.openxmlformats.org/officeDocument/2006/relationships/presProps" Target="/ppt/presProps.xml" Id="R16733eaf8cec47c4" /><Relationship Type="http://schemas.openxmlformats.org/officeDocument/2006/relationships/tableStyles" Target="/ppt/tableStyles.xml" Id="R1844daee3e204876" /><Relationship Type="http://schemas.openxmlformats.org/officeDocument/2006/relationships/slide" Target="/ppt/slides/slide1.xml" Id="R25f32b008a5541fb" /><Relationship Type="http://schemas.openxmlformats.org/officeDocument/2006/relationships/slide" Target="/ppt/slides/slide2.xml" Id="R243f803279cc4e0a" /><Relationship Type="http://schemas.openxmlformats.org/officeDocument/2006/relationships/slide" Target="/ppt/slides/slide3.xml" Id="R3840f7168d0547c0" /><Relationship Type="http://schemas.openxmlformats.org/officeDocument/2006/relationships/slide" Target="/ppt/slides/slide4.xml" Id="R170f4342f1904f32" /><Relationship Type="http://schemas.openxmlformats.org/officeDocument/2006/relationships/slide" Target="/ppt/slides/slide5.xml" Id="Rb3c55e432f384f6a" /><Relationship Type="http://schemas.openxmlformats.org/officeDocument/2006/relationships/slide" Target="/ppt/slides/slide6.xml" Id="Rcd99a597acf44ebf" /><Relationship Type="http://schemas.openxmlformats.org/officeDocument/2006/relationships/slide" Target="/ppt/slides/slide7.xml" Id="R433f4d4f4dfa4dfb" /><Relationship Type="http://schemas.openxmlformats.org/officeDocument/2006/relationships/slide" Target="/ppt/slides/slide8.xml" Id="R7b49542a6dec407c" /><Relationship Type="http://schemas.openxmlformats.org/officeDocument/2006/relationships/slide" Target="/ppt/slides/slide9.xml" Id="Rb84dbde6ce4b4af5" /><Relationship Type="http://schemas.openxmlformats.org/officeDocument/2006/relationships/slide" Target="/ppt/slides/slide10.xml" Id="R196e5ab529254a91" /><Relationship Type="http://schemas.openxmlformats.org/officeDocument/2006/relationships/slide" Target="/ppt/slides/slide11.xml" Id="R17ad9d8ba68d409f" /><Relationship Type="http://schemas.openxmlformats.org/officeDocument/2006/relationships/slide" Target="/ppt/slides/slide12.xml" Id="R2e946bd4adb74583" /><Relationship Type="http://schemas.openxmlformats.org/officeDocument/2006/relationships/slide" Target="/ppt/slides/slide13.xml" Id="Rd347080da37a430b" /><Relationship Type="http://schemas.openxmlformats.org/officeDocument/2006/relationships/slide" Target="/ppt/slides/slide14.xml" Id="R4166d464441d42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cc7e4c01e241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f0caed157846b3" /><Relationship Type="http://schemas.openxmlformats.org/officeDocument/2006/relationships/notesMaster" Target="/ppt/notesMasters/notesMaster1.xml" Id="Ra76841c828474b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882a86f03444b8" /><Relationship Type="http://schemas.openxmlformats.org/officeDocument/2006/relationships/notesMaster" Target="/ppt/notesMasters/notesMaster1.xml" Id="R31a3372980144f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e6212dfaf940fc" /><Relationship Type="http://schemas.openxmlformats.org/officeDocument/2006/relationships/notesMaster" Target="/ppt/notesMasters/notesMaster1.xml" Id="R26ada1d69f174a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c9170ff0b24c13" /><Relationship Type="http://schemas.openxmlformats.org/officeDocument/2006/relationships/notesMaster" Target="/ppt/notesMasters/notesMaster1.xml" Id="Raa2bab0f25ec48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98b2764b044acc" /><Relationship Type="http://schemas.openxmlformats.org/officeDocument/2006/relationships/notesMaster" Target="/ppt/notesMasters/notesMaster1.xml" Id="Rd2e2f38ea4364b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39e403ba724ee1" /><Relationship Type="http://schemas.openxmlformats.org/officeDocument/2006/relationships/notesMaster" Target="/ppt/notesMasters/notesMaster1.xml" Id="Ra064a936ff2242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d9d19cdadd4bf2" /><Relationship Type="http://schemas.openxmlformats.org/officeDocument/2006/relationships/notesMaster" Target="/ppt/notesMasters/notesMaster1.xml" Id="R650384fbadd441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87ace315fb4ba8" /><Relationship Type="http://schemas.openxmlformats.org/officeDocument/2006/relationships/notesMaster" Target="/ppt/notesMasters/notesMaster1.xml" Id="Rb2ad797a4a2b45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c609e1951648e5" /><Relationship Type="http://schemas.openxmlformats.org/officeDocument/2006/relationships/notesMaster" Target="/ppt/notesMasters/notesMaster1.xml" Id="R61c1ad8d80494c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3b2401ccbcf4872" /><Relationship Type="http://schemas.openxmlformats.org/officeDocument/2006/relationships/notesMaster" Target="/ppt/notesMasters/notesMaster1.xml" Id="Refd46d92ad014e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212e455c27492e" /><Relationship Type="http://schemas.openxmlformats.org/officeDocument/2006/relationships/notesMaster" Target="/ppt/notesMasters/notesMaster1.xml" Id="R77193d02d8494a1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866bd7b1c654d3a" /><Relationship Type="http://schemas.openxmlformats.org/officeDocument/2006/relationships/notesMaster" Target="/ppt/notesMasters/notesMaster1.xml" Id="R387c72c8839e455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153c6a1d2d54705" /><Relationship Type="http://schemas.openxmlformats.org/officeDocument/2006/relationships/notesMaster" Target="/ppt/notesMasters/notesMaster1.xml" Id="R2599a7cd925947e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7d8ea373a154240" /><Relationship Type="http://schemas.openxmlformats.org/officeDocument/2006/relationships/notesMaster" Target="/ppt/notesMasters/notesMaster1.xml" Id="Rb4191cf6988341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30 秒。大家好，我是张京鹏。今天介绍驭智，一个面向 AI 时代的新一代计算机教育考核平台。我们希望引导学生合理使用 AI，培养驾驭智能的能力。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来源：项目申报书与张京鹏提供的个人信息、项目主张和考核原则。实现机制为拟议方案。</a:t>
            </a:r>
          </a:p>
          <a:p xmlns:a="http://schemas.openxmlformats.org/drawingml/2006/main">
            <a:r>
              <a:t>视觉：内置图像生成工具制作的概念插画，不是产品实拍。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40 秒。我是人工智能学院的张京鹏，曾获数学竞赛省一等奖，熟练掌握 AI 基础知识。目前从事 LLM 后训练、强化学习和 Agent 相关科研工作。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来源：张京鹏在本次对话中提供的个人信息与照片。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90 秒。当前有两种值得讨论的情况。一种是学生把作业整体交给 AI，代码和报告完成了，但学生没有真正理解。另一种是部分课程为应对这种情况，在期末机考中完全杜绝 AI，回到手写编程。我的观点是两种做法都不合适。前者难以证明学生理解，后者没有引导学生练习合理使用 AI。考核会影响学生平时将精力投入到哪里，因此我们需要重新思考考核应该鼓励什么能力。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来源：项目申报书与张京鹏提供的个人信息、项目主张和考核原则。实现机制为拟议方案。</a:t>
            </a:r>
          </a:p>
          <a:p xmlns:a="http://schemas.openxmlformats.org/drawingml/2006/main">
            <a:r>
              <a:t>视觉：内置图像生成工具制作的场景插画，不是真实学生或考试照片。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70 秒。这里先讲理念。我们希望把自主规划、设计的能力留给学生，把细节代码实现、调试等能力开放给 AI。学生仍然需要运用课程知识理解问题、形成方案，对结果负责。AI 承担具体实现工作。通过这样的分工，考核引导学生合理使用 AI，培养驾驭智能的能力。这一页只解释教育理念，具体机制随后介绍。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来源：项目申报书与张京鹏提供的个人信息、项目主张和考核原则。实现机制为拟议方案。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60 秒。驭智是面向 AI 时代的新一代计算机教育考核平台，旨在引导学生学会合理使用 AI、驾驭智能。合理使用 AI 本身成为考核的一部分。教师定义考点，学生独立作出决策，平台约束 AI 的行为，并记录和评价学生完成任务的过程。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来源：项目申报书与张京鹏提供的个人信息、项目主张和考核原则。实现机制为拟议方案。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70 秒。具体实现分为三层。第一层是受限 AI，规定它能承担哪些工作。第二层是输入门控，由专门的 AI 审查单轮输入，拦截其中的恶意越权。第三层是提交后的评估，评价学生能力，同时结合完整对话进行多轮审查。这是逻辑层次的划分，输入门控在每轮执行前运行，事后评估在提交后进行。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来源：项目申报书与张京鹏提供的个人信息、项目主张和考核原则。实现机制为拟议方案。</a:t>
            </a:r>
          </a:p>
          <a:p xmlns:a="http://schemas.openxmlformats.org/drawingml/2006/main">
            <a:r>
              <a:t>视觉为三层机制的概念表达，层次编号不表示实时调用顺序。图像由内置图像生成工具制作。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90 秒。第一层先解决分权问题。学生掌握规划权，决定做什么以及怎样做，AI 掌握执行权，落实学生明确给出的方案。AI 不能替学生作出关键规划和设计。这里的分权是系统的行为约束，不能仅凭输出是自然语言还是代码来判断是否越权，一段代码同样可能替学生完成设计。考核期间 AI 不提供提示、不追问、不要求细化。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来源：项目申报书与张京鹏提供的个人信息、项目主张和考核原则。实现机制为拟议方案。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110 秒。进一步的问题是，什么可以执行。这个边界取决于教师在出题时给出的考点。教师明确本题要考查哪些知识，以及哪些决策应由学生独立完成。AI 参考这些考点和学生已给出的方案，判断当前操作是否替代学生应完成的规划与设计。因此，执行边界随题目考点确定。能够执行就落实操作，不能执行就不执行，不向学生解释缺少什么，也不提供中性提示。考点规则用于后台判断，不能借此泄露解题思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来源：项目申报书与张京鹏提供的个人信息、项目主张和考核原则。实现机制为拟议方案。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90 秒。第二层只审查单轮输入，不结合历史做多轮审查。对于学生每一轮提交的输入，专门的 AI 在执行前检查其中是否存在覆盖规则、伪装角色、索取越权能力等恶意诱导。通过单轮门控后，受限 AI 仍然按考点限定的权限执行。跨轮次诱导与多轮恶意攻击交由提交后的事后评估审查。审查原因只留在后台，不向学生提供改写建议或提示。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来源：项目申报书与张京鹏提供的个人信息、项目主张和考核原则。实现机制为拟议方案。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80 秒。第三层需要完整的过程证据。平台记录学生每一次操作、方案版本、手动修改和提交，同时关联 AI 输出、代码差异、工具执行与测试结果。后台门控记录也保留在轨迹中。时间与版本使这些证据可以串联、回放、复核。完整记录指平台内操作，不声称观察到平台外行为。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来源：项目申报书与张京鹏提供的个人信息、项目主张和考核原则。实现机制为拟议方案。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110 秒。过程评价重点考查五项能力。需求理解与拆解，看子任务是否覆盖要求。规划与设计，看关键决策与方案一致性。人机协作与表达，看学生能否将自己的方案准确表达成指令。验证与结果判断，看测试选择和边界覆盖。纠错与迭代，看学生依据运行事实作出的修正。每个评价都应引用过程证据，不能用对话轮数或文字长度代替能力判断。结果正确性仍然保留，具体权重由课程确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来源：项目申报书与张京鹏提供的个人信息、项目主张和考核原则。实现机制为拟议方案。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90 秒。事后评估同时承担第三道门控，负责多轮审查。学生提交后，专门的 AI 结合完整对话与操作轨迹，分析跨轮次诱导、逐步获取越权能力等行为，并标记原始证据。它不是把输入门控再运行一遍，而是利用完整上下文检查跨轮次的关联。教师复核后，按考前公布的规则实施相应处罚。普通指令不完整或未执行，不自动等同于恶意攻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来源：项目申报书与张京鹏提供的个人信息、项目主张和考核原则。实现机制为拟议方案。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60 秒。先选择一门课程和少量代表性题目试点，验证权限边界是否准确，正常操作是否误拦截，考核过程中是否出现额外提示。过程评价与教师判断进行对照。后续积累过程数据，优化规则与评价方式，再探索将教育考核原则通过后训练固化到专用模型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来源：项目申报书与张京鹏提供的个人信息、项目主张和考核原则。实现机制为拟议方案。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 30 秒。驭智希望让学生学会驾驭智能。学生理解问题、作出决策，指挥 AI 完成实现并验证结果。谢谢大家。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来源：项目申报书与张京鹏提供的个人信息、项目主张和考核原则。实现机制为拟议方案。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1bdfd831d0481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f593c1ea624af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9a350dd50f456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03aa0227a9425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438128e5754a2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984da1768d4b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21E682-56AC-467A-8F58-5B80F1B811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02D91E1-D0B6-4FBE-ACB7-4960EBB5BF7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99773DC-B74F-44D9-A5E9-9F7BFA7818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36FC57-1FB3-4070-A49B-08A9B2CECD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A2DB114-7AFA-40ED-95AF-1D13EAE5C3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00ED1D6-CB20-4949-ACF2-BEBAEE82DB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212F42C-0994-45AB-A2B0-AF7BA5B244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8D09BD0-88DA-40CF-B676-697C72C3CCE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041E3B-BD60-401D-8B60-FB517248AA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7092601-6C42-4A7A-90AB-578E775051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d9f2f4ac504bc3" /><Relationship Type="http://schemas.openxmlformats.org/officeDocument/2006/relationships/slideLayout" Target="/ppt/slideLayouts/slideLayout1.xml" Id="Rfb22f33e6e614997" /><Relationship Type="http://schemas.openxmlformats.org/officeDocument/2006/relationships/slideLayout" Target="/ppt/slideLayouts/slideLayout2.xml" Id="R5175533f6abc44a8" /><Relationship Type="http://schemas.openxmlformats.org/officeDocument/2006/relationships/slideLayout" Target="/ppt/slideLayouts/slideLayout3.xml" Id="R108401554a2c43d1" /><Relationship Type="http://schemas.openxmlformats.org/officeDocument/2006/relationships/slideLayout" Target="/ppt/slideLayouts/slideLayout4.xml" Id="Rf30035ac313b4aba" /><Relationship Type="http://schemas.openxmlformats.org/officeDocument/2006/relationships/slideLayout" Target="/ppt/slideLayouts/slideLayout5.xml" Id="R45bdc1efdc7a439f" /><Relationship Type="http://schemas.openxmlformats.org/officeDocument/2006/relationships/slideLayout" Target="/ppt/slideLayouts/slideLayout6.xml" Id="R1775b45d4c1942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22f33e6e614997"/>
    <p:sldLayoutId xmlns:r="http://schemas.openxmlformats.org/officeDocument/2006/relationships" id="2147483650" r:id="R5175533f6abc44a8"/>
    <p:sldLayoutId xmlns:r="http://schemas.openxmlformats.org/officeDocument/2006/relationships" id="2147483651" r:id="R108401554a2c43d1"/>
    <p:sldLayoutId xmlns:r="http://schemas.openxmlformats.org/officeDocument/2006/relationships" id="2147483652" r:id="Rf30035ac313b4aba"/>
    <p:sldLayoutId xmlns:r="http://schemas.openxmlformats.org/officeDocument/2006/relationships" id="2147483653" r:id="R45bdc1efdc7a439f"/>
    <p:sldLayoutId xmlns:r="http://schemas.openxmlformats.org/officeDocument/2006/relationships" id="2147483654" r:id="R1775b45d4c1942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9ae188abd14604" /><Relationship Type="http://schemas.openxmlformats.org/officeDocument/2006/relationships/image" Target="/ppt/media/image.png" Id="R40ce44b1ba0742a4" /><Relationship Type="http://schemas.openxmlformats.org/officeDocument/2006/relationships/notesSlide" Target="/ppt/notesSlides/notesSlide1.xml" Id="R5b9f4a95ddc648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c99782f3cc477b" /><Relationship Type="http://schemas.openxmlformats.org/officeDocument/2006/relationships/image" Target="/ppt/media/image.jpeg" Id="Rf4c8313683924e35" /><Relationship Type="http://schemas.openxmlformats.org/officeDocument/2006/relationships/notesSlide" Target="/ppt/notesSlides/notesSlide2.xml" Id="R281f4791ceec4a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c7046d82064559" /><Relationship Type="http://schemas.openxmlformats.org/officeDocument/2006/relationships/image" Target="/ppt/media/image2.png" Id="Re4c36c7da1514426" /><Relationship Type="http://schemas.openxmlformats.org/officeDocument/2006/relationships/notesSlide" Target="/ppt/notesSlides/notesSlide3.xml" Id="Rb59e6f2f2ff441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8fb781e8cb4be4" /><Relationship Type="http://schemas.openxmlformats.org/officeDocument/2006/relationships/notesSlide" Target="/ppt/notesSlides/notesSlide4.xml" Id="Reab26244531d49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9922b4b7a144dc" /><Relationship Type="http://schemas.openxmlformats.org/officeDocument/2006/relationships/notesSlide" Target="/ppt/notesSlides/notesSlide5.xml" Id="Ra4eb7c8bf84b4f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ea79f0a7dd40ca" /><Relationship Type="http://schemas.openxmlformats.org/officeDocument/2006/relationships/image" Target="/ppt/media/image3.png" Id="R07172fbf60ef403f" /><Relationship Type="http://schemas.openxmlformats.org/officeDocument/2006/relationships/notesSlide" Target="/ppt/notesSlides/notesSlide6.xml" Id="R11df6dede08f42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847ef9db1f4a78" /><Relationship Type="http://schemas.openxmlformats.org/officeDocument/2006/relationships/notesSlide" Target="/ppt/notesSlides/notesSlide7.xml" Id="Ref0bbad7d1424a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1d87bd77b54f61" /><Relationship Type="http://schemas.openxmlformats.org/officeDocument/2006/relationships/notesSlide" Target="/ppt/notesSlides/notesSlide8.xml" Id="R5ed6fb53a92442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12b85a97a041a1" /><Relationship Type="http://schemas.openxmlformats.org/officeDocument/2006/relationships/notesSlide" Target="/ppt/notesSlides/notesSlide9.xml" Id="Rc2628d3752614f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d44e88607e4d5a" /><Relationship Type="http://schemas.openxmlformats.org/officeDocument/2006/relationships/notesSlide" Target="/ppt/notesSlides/notesSlide10.xml" Id="Rc069f29a0e8342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922fc415d24c67" /><Relationship Type="http://schemas.openxmlformats.org/officeDocument/2006/relationships/notesSlide" Target="/ppt/notesSlides/notesSlide11.xml" Id="R75c4b2c1b18243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c6a15b251f4878" /><Relationship Type="http://schemas.openxmlformats.org/officeDocument/2006/relationships/notesSlide" Target="/ppt/notesSlides/notesSlide12.xml" Id="Rb4e93213999d487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e3c93c802c452f" /><Relationship Type="http://schemas.openxmlformats.org/officeDocument/2006/relationships/notesSlide" Target="/ppt/notesSlides/notesSlide13.xml" Id="R68247e602d54476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22e4e6cf4a44e6" /><Relationship Type="http://schemas.openxmlformats.org/officeDocument/2006/relationships/image" Target="/ppt/media/image4.png" Id="R6345c5cb45b44022" /><Relationship Type="http://schemas.openxmlformats.org/officeDocument/2006/relationships/notesSlide" Target="/ppt/notesSlides/notesSlide14.xml" Id="Rb172ad7fe7d342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FF23BB-E2F2-413C-8738-E81F5202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62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A3C917-ED56-4F4D-B10C-5D47E266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F75C66-05BF-49CC-B26F-5FDBE5DDC5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ce44b1ba0742a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E4ADF-AB7E-46A2-8000-3E5C71D9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14475"/>
            <a:ext cx="5715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4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94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4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驭智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5A332-1078-4ABD-9DB0-B5C45CED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609975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75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面向 AI 时代的新一代</a:t>
            </a:r>
          </a:p>
          <a:p xmlns:a="http://schemas.openxmlformats.org/drawingml/2006/main">
            <a:pPr algn="l">
              <a:defRPr sz="2475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计算机教育考核平台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68ED26-C28E-483F-9EFB-EB7F5D33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张京鹏   人工智能学院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BC436-A52B-4937-8786-469413CF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项目方案汇报</a:t>
            </a:r>
          </a:p>
        </p:txBody>
      </p:sp>
    </p:spTree>
    <p:extLst>
      <p:ext uri="{BB962C8B-B14F-4D97-AF65-F5344CB8AC3E}">
        <p14:creationId xmlns:p14="http://schemas.microsoft.com/office/powerpoint/2010/main" val="18341074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920F7-BB0E-4C34-B558-714F4258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62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01  关于我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F8400-1A6A-4842-8360-AB31BE23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64F62-1A70-4F12-A1FF-58E2F3D0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71575"/>
            <a:ext cx="4953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57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57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7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张京鹏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32DCF-EDA7-4E91-863E-865D027A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5238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25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人工智能学院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02496-9A89-438E-AE72-D0D3E87025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c8313683924e35"/>
          <a:stretch xmlns:a="http://schemas.openxmlformats.org/drawingml/2006/main"/>
        </p:blipFill>
        <p:spPr>
          <a:xfrm xmlns:a="http://schemas.openxmlformats.org/drawingml/2006/main">
            <a:off x="8734425" y="1153697"/>
            <a:ext cx="2571750" cy="281705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5D838-EF86-42EF-8C1A-D04001E9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28975"/>
            <a:ext cx="762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数学竞赛省一等奖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D4119-145A-47EE-8403-D995E895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43375"/>
            <a:ext cx="7620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熟练掌握 AI 基础知识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533AF-7F28-4C51-B066-F2AE17A3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57775"/>
            <a:ext cx="78581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0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目前从事 LLM 后训练、强化学习、Agent 相关科研工作</a:t>
            </a:r>
          </a:p>
        </p:txBody>
      </p:sp>
    </p:spTree>
    <p:extLst>
      <p:ext uri="{BB962C8B-B14F-4D97-AF65-F5344CB8AC3E}">
        <p14:creationId xmlns:p14="http://schemas.microsoft.com/office/powerpoint/2010/main" val="11625447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9F934-DF04-4203-9B23-A3E92897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当前考核的两种困境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1B1E1-8AFC-41EF-9E8B-B9EDF2C6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62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02  痛点分析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AE80B-12A7-490C-975D-4CCBA7D8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C8D5D-32FC-4F9F-9E46-1D65B32828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c36c7da1514426"/>
          <a:srcRect xmlns:a="http://schemas.openxmlformats.org/drawingml/2006/main" l="0" t="14463" r="0" b="144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3500" y="1562100"/>
            <a:ext cx="9525000" cy="3810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D17E3-B144-4290-B695-E9F349C3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523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7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完全代做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7895B-05B6-4BCE-A914-550FDDC1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作业完成了，理解没有得到证明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B42FA-1ED1-46E5-AA97-839382F0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14950"/>
            <a:ext cx="457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7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完全禁用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54F35-A276-4E86-8FAE-8F6C93A5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8864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回归手写，驾驭 AI 的能力未被考查</a:t>
            </a:r>
          </a:p>
        </p:txBody>
      </p:sp>
    </p:spTree>
    <p:extLst>
      <p:ext uri="{BB962C8B-B14F-4D97-AF65-F5344CB8AC3E}">
        <p14:creationId xmlns:p14="http://schemas.microsoft.com/office/powerpoint/2010/main" val="11226661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45D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BE6671-D8D3-4EA2-99A5-E52AE5E3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62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B8CB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8C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B8CBFF"/>
                </a:solidFill>
                <a:latin typeface="Noto Sans CJK SC"/>
                <a:ea typeface="Noto Sans CJK SC"/>
                <a:cs typeface="Noto Sans CJK SC"/>
              </a:rPr>
              <a:t>02  我们的主张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E1BAC-8FBF-4B30-9805-64B3DDAD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75" b="0">
                <a:solidFill>
                  <a:srgbClr val="B8CB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B8C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B8CBFF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EFCEA4-5914-45A2-A80A-68EA5E1B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049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自主规划与设计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72820-C641-4B50-BCB7-C828E5753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0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留给学生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3EBB1-9ECA-4227-B8FB-5CCB9804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0"/>
            <a:ext cx="10763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4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细节代码实现与调试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EB7E1-9497-4EF2-8FD1-20266B6E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10477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0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开放给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EF627-331E-497B-B6EF-B4F060D0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959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0">
                <a:solidFill>
                  <a:srgbClr val="B8CB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B8C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B8CBFF"/>
                </a:solidFill>
                <a:latin typeface="Noto Sans CJK SC"/>
                <a:ea typeface="Noto Sans CJK SC"/>
                <a:cs typeface="Noto Sans CJK SC"/>
              </a:rPr>
              <a:t>课程考核应当培养“驾驭智能”的能力</a:t>
            </a:r>
          </a:p>
        </p:txBody>
      </p:sp>
    </p:spTree>
    <p:extLst>
      <p:ext uri="{BB962C8B-B14F-4D97-AF65-F5344CB8AC3E}">
        <p14:creationId xmlns:p14="http://schemas.microsoft.com/office/powerpoint/2010/main" val="15789431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C5AF0-22A0-4D9E-860A-0D3E1CF1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驭智的项目定位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1DBDD-F8B3-4092-ABF9-A7555F89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62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03  项目介绍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C201C-821C-4673-89CE-850D1B55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8E898-E54B-43F2-9E38-8671B495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0477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8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48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8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让合理使用 AI</a:t>
            </a:r>
          </a:p>
          <a:p xmlns:a="http://schemas.openxmlformats.org/drawingml/2006/main">
            <a:pPr algn="l">
              <a:defRPr sz="48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8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成为考核的一部分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3FCDE-382E-49FF-A3DD-6B552BF3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教师定义考点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B88A6E-00E7-4F83-83FE-6BE64306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7244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学生独立决策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64B732-0C92-41F1-A8D6-5CBF713D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2440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32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平台约束与评价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4CC1A-E213-4988-B6D8-C7F0E6DA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816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面向 AI 时代的新一代计算机教育考核平台</a:t>
            </a:r>
          </a:p>
        </p:txBody>
      </p:sp>
    </p:spTree>
    <p:extLst>
      <p:ext uri="{BB962C8B-B14F-4D97-AF65-F5344CB8AC3E}">
        <p14:creationId xmlns:p14="http://schemas.microsoft.com/office/powerpoint/2010/main" val="19255479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8759A1-378C-4F67-A895-D016FE02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三层机制共同约束 AI 行为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6E9F3-628D-405A-A33C-1FB9A73D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62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04  具体实现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5A27FA-E163-425C-AF29-A91AEF36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06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B6D00-DE07-46C2-B33C-B1E1E04A64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172fbf60ef403f"/>
          <a:srcRect xmlns:a="http://schemas.openxmlformats.org/drawingml/2006/main" l="0" t="22209" r="0" b="222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724025"/>
            <a:ext cx="11144250" cy="34861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E0DA0-4B01-4760-B274-BE3BCA8F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2482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2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01  受限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1E5DB-D152-48F8-845F-095CD868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7912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限定执行权限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D67A98-4BA0-4EA1-914B-C5276945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2482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2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02  输入门控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D2FFCB-499B-4C72-99F2-637788A6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7912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审查单轮输入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6E8AEC-18DC-4942-A447-8614DE8B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2482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22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03  事后评估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474EC5-1F94-49E4-BB00-93C32DCF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7912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过程评价与多轮审查</a:t>
            </a:r>
          </a:p>
        </p:txBody>
      </p:sp>
    </p:spTree>
    <p:extLst>
      <p:ext uri="{BB962C8B-B14F-4D97-AF65-F5344CB8AC3E}">
        <p14:creationId xmlns:p14="http://schemas.microsoft.com/office/powerpoint/2010/main" val="10807400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C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38C23F-AF03-4F23-8270-E2F771C2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规划权与执行权的分工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5FC2A-8A88-4AA3-B86F-E718F469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62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B8CB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B8C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B8CBFF"/>
                </a:solidFill>
                <a:latin typeface="Noto Sans CJK SC"/>
                <a:ea typeface="Noto Sans CJK SC"/>
                <a:cs typeface="Noto Sans CJK SC"/>
              </a:rPr>
              <a:t>04.1  受限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0FD1C-E3D7-4398-974B-FD8DA08D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75" b="0">
                <a:solidFill>
                  <a:srgbClr val="B8CB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B8C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B8CBFF"/>
                </a:solidFill>
                <a:latin typeface="Noto Sans CJK SC"/>
                <a:ea typeface="Noto Sans CJK SC"/>
                <a:cs typeface="Noto Sans CJK S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ED19D-083A-4BCE-91D8-CA94B763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975" b="1">
                <a:solidFill>
                  <a:srgbClr val="B8CB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975" b="1">
                <a:solidFill>
                  <a:srgbClr val="B8C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75" b="1">
                <a:solidFill>
                  <a:srgbClr val="B8CBFF"/>
                </a:solidFill>
                <a:latin typeface="Noto Sans CJK SC"/>
                <a:ea typeface="Noto Sans CJK SC"/>
                <a:cs typeface="Noto Sans CJK SC"/>
              </a:rPr>
              <a:t>学生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BC3AD-A837-4CBF-89E4-60933ECA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0764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975" b="1">
                <a:solidFill>
                  <a:srgbClr val="B8CB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975" b="1">
                <a:solidFill>
                  <a:srgbClr val="B8C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75" b="1">
                <a:solidFill>
                  <a:srgbClr val="B8CBFF"/>
                </a:solidFill>
                <a:latin typeface="Noto Sans CJK SC"/>
                <a:ea typeface="Noto Sans CJK SC"/>
                <a:cs typeface="Noto Sans CJK SC"/>
              </a:rPr>
              <a:t>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7F99B-5077-4877-B309-1E7E20EB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057525"/>
            <a:ext cx="5095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EF9E29-B260-47BC-8E55-3B452353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57525"/>
            <a:ext cx="4953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7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72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执行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6B150D-E2FC-422F-B9E8-73EDB581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686300"/>
            <a:ext cx="504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决定做什么、怎样做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BC4F50-8305-4F8D-9ACD-7FBA0920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6863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4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落实学生明确的方案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9DF737-2208-4B16-8E21-D9926D75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9055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75" b="1">
                <a:solidFill>
                  <a:srgbClr val="B8CB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B8CB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B8CBFF"/>
                </a:solidFill>
                <a:latin typeface="Noto Sans CJK SC"/>
                <a:ea typeface="Noto Sans CJK SC"/>
                <a:cs typeface="Noto Sans CJK SC"/>
              </a:rPr>
              <a:t>AI 只有执行权，没有规划权</a:t>
            </a:r>
          </a:p>
        </p:txBody>
      </p:sp>
    </p:spTree>
    <p:extLst>
      <p:ext uri="{BB962C8B-B14F-4D97-AF65-F5344CB8AC3E}">
        <p14:creationId xmlns:p14="http://schemas.microsoft.com/office/powerpoint/2010/main" val="10797327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58707-4A09-4488-8B48-75376028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教师给出的考点，决定执行边界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885C4-22B9-4CE2-90B6-8BB815C5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62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04.1  受限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8B28E-5CBA-4F4F-A9B4-1A3DA059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992FD-6337-4A1A-92B9-804FBF58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027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教师出题时明确考点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7C6DB-2628-4C80-8C37-2725D2B4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学生独立完成的规划与设计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F0B8C-3AC0-4D45-9262-35E98965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43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AI 依据考点判断可执行性</a:t>
            </a:r>
          </a:p>
        </p:txBody>
      </p:sp>
    </p:spTree>
    <p:extLst>
      <p:ext uri="{BB962C8B-B14F-4D97-AF65-F5344CB8AC3E}">
        <p14:creationId xmlns:p14="http://schemas.microsoft.com/office/powerpoint/2010/main" val="10396235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3BA7A4-5264-4DBC-826F-87D78AA4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输入门控只审查单轮输入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72E0E-1440-41EC-AE10-53300643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62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04.2  输入门控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0AA4C-2321-418E-B902-AB8F21D4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1F7CD-3135-48BB-BD07-526D4BAA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8597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单轮输入审查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8DCF0-8062-4D4C-9694-63E9FF58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规则覆盖、角色伪装、越权请求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BDC85-6122-4A62-B582-FE3CE1C6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00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执行前拦截，后台留痕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001E9-0315-459E-98E5-0378630C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多轮审查留待提交后</a:t>
            </a:r>
          </a:p>
        </p:txBody>
      </p:sp>
    </p:spTree>
    <p:extLst>
      <p:ext uri="{BB962C8B-B14F-4D97-AF65-F5344CB8AC3E}">
        <p14:creationId xmlns:p14="http://schemas.microsoft.com/office/powerpoint/2010/main" val="5030023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9BA96B-9490-4CA0-AE00-0AEAD3A6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每次操作，都有可追溯的证据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7BE10-3A48-493E-8D29-142BDE74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62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04.3  过程轨迹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73F78-87D0-4945-86AB-7DBC7071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9AFE86-1BF1-4D58-ABEA-1F3A34CC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476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9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指令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E0D23-48E9-44C5-A8DD-87C59E15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1943100"/>
            <a:ext cx="4191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9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方案与代码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DC6703-3CF7-4CEA-8F47-3E85D37D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943100"/>
            <a:ext cx="2762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9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9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执行结果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95392-FE38-4BCF-908A-B73DF7EA69B4}"/>
              </a:ext>
            </a:extLst>
          </p:cNvPr>
          <p:cNvGraphicFramePr/>
          <p:nvPr/>
        </p:nvGraphicFramePr>
        <p:xfrm>
          <a:off xmlns:a="http://schemas.openxmlformats.org/drawingml/2006/main" x="609600" y="3171825"/>
          <a:ext xmlns:a="http://schemas.openxmlformats.org/drawingml/2006/main" cx="10972800" cy="2371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90875"/>
                <a:gridCol w="7781925"/>
              </a:tblGrid>
              <a:tr h="59293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记录对象</a:t>
                      </a:r>
                    </a:p>
                  </a:txBody>
                  <a:tcPr marL="171450" marR="152400" marT="142875" marB="114300" anchor="ctr">
                    <a:solidFill>
                      <a:srgbClr val="1745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保留的证据</a:t>
                      </a:r>
                    </a:p>
                  </a:txBody>
                  <a:tcPr marL="171450" marR="152400" marT="142875" marB="114300" anchor="ctr">
                    <a:solidFill>
                      <a:srgbClr val="1745D1"/>
                    </a:solidFill>
                  </a:tcPr>
                </a:tc>
              </a:tr>
              <a:tr h="59293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B2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学生操作</a:t>
                      </a:r>
                    </a:p>
                  </a:txBody>
                  <a:tcPr marL="171450" marR="152400" marT="14287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B2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指令、方案版本、手动修改与提交</a:t>
                      </a:r>
                    </a:p>
                  </a:txBody>
                  <a:tcPr marL="171450" marR="152400" marT="142875" marB="114300" anchor="ctr">
                    <a:solidFill>
                      <a:srgbClr val="FFFFFF"/>
                    </a:solidFill>
                  </a:tcPr>
                </a:tc>
              </a:tr>
              <a:tr h="59293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B2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AI 与工具</a:t>
                      </a:r>
                    </a:p>
                  </a:txBody>
                  <a:tcPr marL="171450" marR="152400" marT="142875" marB="114300" anchor="ctr">
                    <a:solidFill>
                      <a:srgbClr val="EDF0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B2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AI 输出、代码差异、测试与运行结果</a:t>
                      </a:r>
                    </a:p>
                  </a:txBody>
                  <a:tcPr marL="171450" marR="152400" marT="142875" marB="114300" anchor="ctr">
                    <a:solidFill>
                      <a:srgbClr val="EDF0F6"/>
                    </a:solidFill>
                  </a:tcPr>
                </a:tc>
              </a:tr>
              <a:tr h="59293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B2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后台审查</a:t>
                      </a:r>
                    </a:p>
                  </a:txBody>
                  <a:tcPr marL="171450" marR="152400" marT="142875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B2C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门控判定、命中规则与对应片段</a:t>
                      </a:r>
                    </a:p>
                  </a:txBody>
                  <a:tcPr marL="171450" marR="152400" marT="142875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89AE2-9CED-4323-8800-D08072B7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时间与版本关联记录，教师能够回放和复核</a:t>
            </a:r>
          </a:p>
        </p:txBody>
      </p:sp>
    </p:spTree>
    <p:extLst>
      <p:ext uri="{BB962C8B-B14F-4D97-AF65-F5344CB8AC3E}">
        <p14:creationId xmlns:p14="http://schemas.microsoft.com/office/powerpoint/2010/main" val="4487279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6399A3-D9A6-4288-8C7C-1EB9F391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过程评价的五项能力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644AF-2DB0-4408-8589-110C6BE5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62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04.3  过程性考核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E931B-9B39-44D7-B4A2-AB0FC123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AA74E-FA21-464F-BE84-1D9D76C1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47850"/>
            <a:ext cx="790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3639D-58B9-47E4-B763-019149FC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182880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需求理解与拆解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69F6DB-92DB-4D16-8605-9486239F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895475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是否覆盖要求与约束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44A899-3489-4901-951B-E5C4051F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19375"/>
            <a:ext cx="790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E1FD5-A312-4F26-8D7A-673A98AC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600325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规划与设计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E44F11-4D4B-47D0-B2F9-6ED3D7E3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6670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关键决策与方案一致性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C2ADC-FA45-4B6E-98F3-96669508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90900"/>
            <a:ext cx="790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BAAF7-2A1A-4C53-90D0-C266FAEF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37185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人机协作与表达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805160-83B5-4B6A-BFFA-04EAA89B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438525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能否准确表达自己的方案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4EDC64-D09F-4F36-A13A-F870374F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62425"/>
            <a:ext cx="790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6A3BC-C8E2-4C2B-8D60-271215EF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43375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验证与结果判断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24F766-C930-4DC3-A010-096C7098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2100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测试选择与边界覆盖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8E3B39-738C-44AF-95F8-866D75A9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33950"/>
            <a:ext cx="7905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A05747-A5A9-4F83-A53B-3B52DAAE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914900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纠错与迭代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4AEA87-9E58-4819-BD53-ED98E5C2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981575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依据运行事实作出的修正</a:t>
            </a:r>
          </a:p>
        </p:txBody>
      </p:sp>
    </p:spTree>
    <p:extLst>
      <p:ext uri="{BB962C8B-B14F-4D97-AF65-F5344CB8AC3E}">
        <p14:creationId xmlns:p14="http://schemas.microsoft.com/office/powerpoint/2010/main" val="8702334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000AE4-059F-4B23-8AFA-ED2FDD82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事后评估承担多轮审查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7A0A9-BAA6-4308-8634-97202B6E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62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04.3  第三道门控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57E00-DB44-478C-9B5B-6F047288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E2788-C129-4E5A-9152-F7E5C7BD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8597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完整对话与操作轨迹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3D093-B839-4369-B1E7-C6C48DEF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跨轮次诱导与恶意越权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95B9E-E0EB-4437-966F-80C41AC8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00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证据标记、教师复核、依规处罚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23CF0-DDC6-4D99-8FA6-3A117E8A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指令不完整 ≠ 恶意攻击</a:t>
            </a:r>
          </a:p>
        </p:txBody>
      </p:sp>
    </p:spTree>
    <p:extLst>
      <p:ext uri="{BB962C8B-B14F-4D97-AF65-F5344CB8AC3E}">
        <p14:creationId xmlns:p14="http://schemas.microsoft.com/office/powerpoint/2010/main" val="20519791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65D606-F8F3-44D0-B4A0-0AE87635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57250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0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从课程试点开始验证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D969A-F388-4CC5-9603-C3FC0DA7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62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05  落地路径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E4326D-BC18-498C-97DF-71B1334B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CB8DD-24E6-4D18-B608-8F1A7518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2880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22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922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22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D65ED-A1AB-4176-BC27-5112A7FC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7719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625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课程试点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81923-88E1-4DE5-AABB-41E2E18C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533900"/>
            <a:ext cx="33718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选择一门课程</a:t>
            </a:r>
          </a:p>
          <a:p xmlns:a="http://schemas.openxmlformats.org/drawingml/2006/main">
            <a:pPr algn="l">
              <a:defRPr sz="21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少量代表性题目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596C40-2A72-497C-BD47-B118E38D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2880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225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9225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225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C5D94C-548A-4A29-928A-53BF5451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719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625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验证与改进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047CB-7BC9-4EA0-9300-2FC28B1B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33900"/>
            <a:ext cx="33718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检查越权与误拦截</a:t>
            </a:r>
          </a:p>
          <a:p xmlns:a="http://schemas.openxmlformats.org/drawingml/2006/main">
            <a:pPr algn="l">
              <a:defRPr sz="21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对照教师评价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5A1B8-9358-49FF-AA47-9813D3EB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82880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22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922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225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33B14-5CB4-4020-B780-1E04C06E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7719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625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长期演进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34F7E7-66F8-43DC-9637-CA23A031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533900"/>
            <a:ext cx="33718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1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积累过程数据</a:t>
            </a:r>
          </a:p>
          <a:p xmlns:a="http://schemas.openxmlformats.org/drawingml/2006/main">
            <a:pPr algn="l">
              <a:defRPr sz="21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探索模型后训练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B6FB9B-A637-4172-AB36-30DB7ED1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991225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核心验证：执行边界准确，考核过程没有额外提示</a:t>
            </a:r>
          </a:p>
        </p:txBody>
      </p:sp>
    </p:spTree>
    <p:extLst>
      <p:ext uri="{BB962C8B-B14F-4D97-AF65-F5344CB8AC3E}">
        <p14:creationId xmlns:p14="http://schemas.microsoft.com/office/powerpoint/2010/main" val="10276461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CB119-8F7C-4ED1-B262-F097C7DE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962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687322-9A54-454B-84A6-300BE328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457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69717E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534F7-400E-4B03-885E-3A83CFDBC7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45c5cb45b4402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53304-4938-4F6F-A27F-E91D28BD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419225"/>
            <a:ext cx="6477000" cy="2085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58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58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8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让学生学会</a:t>
            </a:r>
          </a:p>
          <a:p xmlns:a="http://schemas.openxmlformats.org/drawingml/2006/main">
            <a:pPr algn="l">
              <a:defRPr sz="58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850" b="1">
                <a:solidFill>
                  <a:srgbClr val="1745D1"/>
                </a:solidFill>
                <a:latin typeface="Noto Sans CJK SC"/>
                <a:ea typeface="Noto Sans CJK SC"/>
                <a:cs typeface="Noto Sans CJK SC"/>
              </a:rPr>
              <a:t>驾驭智能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9BE25-0778-409E-BFE0-5975B6C0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理解问题，作出决策</a:t>
            </a:r>
          </a:p>
          <a:p xmlns:a="http://schemas.openxmlformats.org/drawingml/2006/main">
            <a:pPr algn="l">
              <a:def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指挥 AI，验证结果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B838E-4AE0-43F0-882D-1E7148AAB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9245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11B2C"/>
                </a:solidFill>
                <a:latin typeface="Noto Sans CJK SC"/>
                <a:ea typeface="Noto Sans CJK SC"/>
                <a:cs typeface="Noto Sans CJK SC"/>
              </a:rPr>
              <a:t>张京鹏   人工智能学院</a:t>
            </a:r>
          </a:p>
        </p:txBody>
      </p:sp>
    </p:spTree>
    <p:extLst>
      <p:ext uri="{BB962C8B-B14F-4D97-AF65-F5344CB8AC3E}">
        <p14:creationId xmlns:p14="http://schemas.microsoft.com/office/powerpoint/2010/main" val="1334257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2026-10-10T01:16:00.8860000Z</dcterms:created>
  <dcterms:modified xsi:type="dcterms:W3CDTF">2026-10-10T01:16:00.8860000Z</dcterms:modified>
</coreProperties>
</file>