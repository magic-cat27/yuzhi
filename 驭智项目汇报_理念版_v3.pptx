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d0c2eadd44fa0" /><Relationship Type="http://schemas.openxmlformats.org/officeDocument/2006/relationships/extended-properties" Target="/docProps/app.xml" Id="R65aed1277b5b455c" /><Relationship Type="http://schemas.openxmlformats.org/officeDocument/2006/relationships/officeDocument" Target="/ppt/presentation.xml" Id="R56823bea8f5f48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46f22468e34b8b"/>
  </p:sldMasterIdLst>
  <p:notesMasterIdLst>
    <p:notesMasterId xmlns:r="http://schemas.openxmlformats.org/officeDocument/2006/relationships" r:id="Re3e7964047da4173"/>
  </p:notesMasterIdLst>
  <p:sldIdLst>
    <p:sldId xmlns:r="http://schemas.openxmlformats.org/officeDocument/2006/relationships" id="256" r:id="R83d58fd204ae4be2"/>
    <p:sldId xmlns:r="http://schemas.openxmlformats.org/officeDocument/2006/relationships" id="257" r:id="R6f49d294365b4a4c"/>
    <p:sldId xmlns:r="http://schemas.openxmlformats.org/officeDocument/2006/relationships" id="258" r:id="Ra3c72b54fdb34227"/>
    <p:sldId xmlns:r="http://schemas.openxmlformats.org/officeDocument/2006/relationships" id="259" r:id="R8524dd5a4ca9405e"/>
    <p:sldId xmlns:r="http://schemas.openxmlformats.org/officeDocument/2006/relationships" id="260" r:id="Rde2c0aae0f0f45cc"/>
    <p:sldId xmlns:r="http://schemas.openxmlformats.org/officeDocument/2006/relationships" id="261" r:id="Rd3406f77b135421a"/>
    <p:sldId xmlns:r="http://schemas.openxmlformats.org/officeDocument/2006/relationships" id="262" r:id="R4feebeca672944c3"/>
    <p:sldId xmlns:r="http://schemas.openxmlformats.org/officeDocument/2006/relationships" id="263" r:id="Rc32e4396f7824057"/>
    <p:sldId xmlns:r="http://schemas.openxmlformats.org/officeDocument/2006/relationships" id="264" r:id="R1d2840f882954ac3"/>
    <p:sldId xmlns:r="http://schemas.openxmlformats.org/officeDocument/2006/relationships" id="265" r:id="R8c5b6bcf25884b51"/>
    <p:sldId xmlns:r="http://schemas.openxmlformats.org/officeDocument/2006/relationships" id="266" r:id="Rf078a24081de46c7"/>
    <p:sldId xmlns:r="http://schemas.openxmlformats.org/officeDocument/2006/relationships" id="267" r:id="R5560904faaa64fb8"/>
    <p:sldId xmlns:r="http://schemas.openxmlformats.org/officeDocument/2006/relationships" id="268" r:id="Rcf131fcad87a42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a7b1cb80b42cf" /><Relationship Type="http://schemas.openxmlformats.org/officeDocument/2006/relationships/slideMaster" Target="/ppt/slideMasters/slideMaster1.xml" Id="R8346f22468e34b8b" /><Relationship Type="http://schemas.openxmlformats.org/officeDocument/2006/relationships/notesMaster" Target="/ppt/notesMasters/notesMaster1.xml" Id="Re3e7964047da4173" /><Relationship Type="http://schemas.openxmlformats.org/officeDocument/2006/relationships/presProps" Target="/ppt/presProps.xml" Id="Re47fc9f118d54078" /><Relationship Type="http://schemas.openxmlformats.org/officeDocument/2006/relationships/tableStyles" Target="/ppt/tableStyles.xml" Id="R0299b6f981384604" /><Relationship Type="http://schemas.openxmlformats.org/officeDocument/2006/relationships/slide" Target="/ppt/slides/slide1.xml" Id="R83d58fd204ae4be2" /><Relationship Type="http://schemas.openxmlformats.org/officeDocument/2006/relationships/slide" Target="/ppt/slides/slide2.xml" Id="R6f49d294365b4a4c" /><Relationship Type="http://schemas.openxmlformats.org/officeDocument/2006/relationships/slide" Target="/ppt/slides/slide3.xml" Id="Ra3c72b54fdb34227" /><Relationship Type="http://schemas.openxmlformats.org/officeDocument/2006/relationships/slide" Target="/ppt/slides/slide4.xml" Id="R8524dd5a4ca9405e" /><Relationship Type="http://schemas.openxmlformats.org/officeDocument/2006/relationships/slide" Target="/ppt/slides/slide5.xml" Id="Rde2c0aae0f0f45cc" /><Relationship Type="http://schemas.openxmlformats.org/officeDocument/2006/relationships/slide" Target="/ppt/slides/slide6.xml" Id="Rd3406f77b135421a" /><Relationship Type="http://schemas.openxmlformats.org/officeDocument/2006/relationships/slide" Target="/ppt/slides/slide7.xml" Id="R4feebeca672944c3" /><Relationship Type="http://schemas.openxmlformats.org/officeDocument/2006/relationships/slide" Target="/ppt/slides/slide8.xml" Id="Rc32e4396f7824057" /><Relationship Type="http://schemas.openxmlformats.org/officeDocument/2006/relationships/slide" Target="/ppt/slides/slide9.xml" Id="R1d2840f882954ac3" /><Relationship Type="http://schemas.openxmlformats.org/officeDocument/2006/relationships/slide" Target="/ppt/slides/slide10.xml" Id="R8c5b6bcf25884b51" /><Relationship Type="http://schemas.openxmlformats.org/officeDocument/2006/relationships/slide" Target="/ppt/slides/slide11.xml" Id="Rf078a24081de46c7" /><Relationship Type="http://schemas.openxmlformats.org/officeDocument/2006/relationships/slide" Target="/ppt/slides/slide12.xml" Id="R5560904faaa64fb8" /><Relationship Type="http://schemas.openxmlformats.org/officeDocument/2006/relationships/slide" Target="/ppt/slides/slide13.xml" Id="Rcf131fcad87a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07f6acc0cd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bddbf460e4fce" /><Relationship Type="http://schemas.openxmlformats.org/officeDocument/2006/relationships/notesMaster" Target="/ppt/notesMasters/notesMaster1.xml" Id="R73867f35d73c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190dcc07f641c4" /><Relationship Type="http://schemas.openxmlformats.org/officeDocument/2006/relationships/notesMaster" Target="/ppt/notesMasters/notesMaster1.xml" Id="R18124d53463e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e1cb0fd65f4b8f" /><Relationship Type="http://schemas.openxmlformats.org/officeDocument/2006/relationships/notesMaster" Target="/ppt/notesMasters/notesMaster1.xml" Id="R184ffc5ac919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e7d5d70b05493f" /><Relationship Type="http://schemas.openxmlformats.org/officeDocument/2006/relationships/notesMaster" Target="/ppt/notesMasters/notesMaster1.xml" Id="Rb782652e3fe045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19745487784c17" /><Relationship Type="http://schemas.openxmlformats.org/officeDocument/2006/relationships/notesMaster" Target="/ppt/notesMasters/notesMaster1.xml" Id="R3d5eef2b5a064a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2f1792d74c4b61" /><Relationship Type="http://schemas.openxmlformats.org/officeDocument/2006/relationships/notesMaster" Target="/ppt/notesMasters/notesMaster1.xml" Id="R3fa74f33d70b45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74981c7d14bd1" /><Relationship Type="http://schemas.openxmlformats.org/officeDocument/2006/relationships/notesMaster" Target="/ppt/notesMasters/notesMaster1.xml" Id="R4cb4cfd1d67a4d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1b2d1b5bca45cd" /><Relationship Type="http://schemas.openxmlformats.org/officeDocument/2006/relationships/notesMaster" Target="/ppt/notesMasters/notesMaster1.xml" Id="R5290195acf8f4e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331353d0474bf0" /><Relationship Type="http://schemas.openxmlformats.org/officeDocument/2006/relationships/notesMaster" Target="/ppt/notesMasters/notesMaster1.xml" Id="Ra2e9acb447344c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48091ef78a412d" /><Relationship Type="http://schemas.openxmlformats.org/officeDocument/2006/relationships/notesMaster" Target="/ppt/notesMasters/notesMaster1.xml" Id="R348f315c1d1b4c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d573950a40462b" /><Relationship Type="http://schemas.openxmlformats.org/officeDocument/2006/relationships/notesMaster" Target="/ppt/notesMasters/notesMaster1.xml" Id="R4b8060b378434a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8efaf6975d488c" /><Relationship Type="http://schemas.openxmlformats.org/officeDocument/2006/relationships/notesMaster" Target="/ppt/notesMasters/notesMaster1.xml" Id="Re1bd4f47880048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aa09cd4f5b4edf" /><Relationship Type="http://schemas.openxmlformats.org/officeDocument/2006/relationships/notesMaster" Target="/ppt/notesMasters/notesMaster1.xml" Id="Rb75bb68b2561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老师好，今天汇报的项目叫驭智，是面向 AI 时代的计算机教育考核平台。我们关注一个具体问题：当 AI 已经可以协助学生完成代码与报告，课程考核怎样既允许学生使用 AI，又能看见学生自己的理解与判断？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老师好，我是人工智能学院的张京鹏，曾获得数学竞赛省一等奖，目前从事大语言模型后训练、强化学习和 Agent 相关科研工作。结合这些研究方向，我想探索 AI 在计算机课程考核中的使用方式。接下来先介绍项目面对的考核困境。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当前我们面对两种情况。一方面，学生可以把作业整体交给 AI，代码和报告完成了，却未必形成相应的理解。另一方面，一些课程通过完全禁用 AI 的闭卷机考来检验独立编程能力，这种方式有其价值，但难以覆盖学生与 AI 协作的能力。因此，我们提出的问题是：如何在考核中允许学生使用 AI，同时仍能检验学生自己的理解与判断？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驭智提出在考核中引入协同AI助手。首先由教师根据课程目标明确考点，划定哪些关键决策必须由学生独立完成。学生运用课程知识规划方案，AI 根据学生已经明确的方案完成允许范围内的实现，学生再审查并检验结果。这种分工会随着课程和题目变化。某项实现在这门课里属于细节，在另一门课里可能就是需要学生掌握的考点。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第一项价值，是让合理使用 AI、驾驭 AI 成为学生实际练习的能力。考核会影响学生怎样分配精力。如果考核认可的是表达方案、组织实现、审查输出与验证结果，学生就更有动力练习这些行为。在这个过程中，学生需要说清自己的判断，保持任务的方向，并对最终结果负责。我们希望这种考核方式能够服务于 AI-Native 应用型人才的培养。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项价值，是让考核更聚焦课程真正要考的知识。以数据结构与算法为例，一道编程题的完成同时受到代码表达、调试熟练度、数据结构选择和算法设计的影响。在有限时间里，具体实现可能占用大量精力，影响学生展示核心设计能力。如果本题考察的是数据结构与算法决策，我们可以把考点外的实现交给 AI，让学生更充分地展示目标知识的理解。这是希望通过课堂试点验证的价值，也可能为更复杂、更接近真实场景的题目留出空间。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第三项价值，是引入过程性评价。AI 让产出结果变得更容易，最终代码是否正确依然重要，但它无法单独说明关键方案是谁提出的、学生是否理解、是否认真检验了结果。因此我们把作答过程纳入评价，关注学生提出了哪些决策、AI 承担了哪些工作，以及学生怎样检验和修正。我们希望结合结果与过程证据，帮助教师判断学生在这次任务中真正展示了什么。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协同AI助手的三条核心原则：</a:t>
            </a:r>
          </a:p>
          <a:p xmlns:a="http://schemas.openxmlformats.org/drawingml/2006/main">
            <a:r>
              <a:t>（1）AI可以接管执行权，不能接管规划权</a:t>
            </a:r>
          </a:p>
          <a:p xmlns:a="http://schemas.openxmlformats.org/drawingml/2006/main">
            <a:r>
              <a:t>（2）AI的每一行代码实现，都要能追溯到学生的原话</a:t>
            </a:r>
          </a:p>
          <a:p xmlns:a="http://schemas.openxmlformats.org/drawingml/2006/main">
            <a:r>
              <a:t>（3）涉及考点的实现，要从学生那里问清楚实现细节；不涉及考点的无关实现，只要学生有提及就可以代劳。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具体实现有三条相互配合的路径。系统提示词明确 AI 应当遵守的职责和帮助边界。平台流程把可以确定执行的要求嵌入操作顺序，例如先保存规划再开放 AI。当前原型已经接入这两部分，但行为可靠性仍需持续验证。第三条路径是后训练，利用经过审核的交互样本强化模型对边界的遵循，这是后续研究计划。提交过规划只能说明有了设计记录，不代表规划已经清晰正确；后训练也需要独立评测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过程评价主要关注两方面：学生对课程知识的理解与运用，以及学生指挥、审查和验证 AI 的能力。我们计划把规划版本、对话、代码变化、运行结果和学生解释连接起来，让重要评价都有具体证据，并由教师复核。交互次数多不代表能力更强，反复运行也不等于有效验证。证据不足时应保留未知。目前过程轨迹已经能够留存，评价方案仍需实现，并与教师共同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希望过程评价能发现学生的亮点。即使最后的程序不够完整，学生合理的设计、独立发现的问题、有依据的验证，也应当得到具体认可。反馈要说明哪项行为值得肯定、依据是什么，并清楚指出可以改进的方向。详细的成长反馈放在提交后，避免在正式考核过程中泄露解题方法。这样，评价既帮助教师了解学生，也能为学生接下来的学习提供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推广从真实课堂中的小规模试点开始，先选择一门课程和少量代表性任务。收集交互记录与师生反馈后，请教师复核典型案例，找出 AI 越界、不必要追问和评价分歧。依据这些发现修订产品，并验证改进是否有效，再向更多课堂推广。过程数据需要筛选和审核，才能进一步用于规则、评价和模型训练。我们希望形成使用带来反馈、反馈支持改进、改进支持推广的持续循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驭智希望通过考核，引导学生在使用 AI 的同时，仍然需要自己理解问题、作出决策、检验结果，也让教师能够看见这些过程中的理解与成长。下一步，我们希望与课程教师一起确认适合试点的任务、AI 的帮助边界，以及教师认可的过程证据。谢谢老师。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fe4d6cd7344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fbf1eed1847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86d9d26aa4a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19965245745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84dcd433a43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e89857f394d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21E682-56AC-467A-8F58-5B80F1B8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2D91E1-D0B6-4FBE-ACB7-4960EBB5BF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9773DC-B74F-44D9-A5E9-9F7BFA781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36FC57-1FB3-4070-A49B-08A9B2CEC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2DB114-7AFA-40ED-95AF-1D13EAE5C3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0ED1D6-CB20-4949-ACF2-BEBAEE82D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12F42C-0994-45AB-A2B0-AF7BA5B24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D09BD0-88DA-40CF-B676-697C72C3CC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041E3B-BD60-401D-8B60-FB517248A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092601-6C42-4A7A-90AB-578E77505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ac18df02084aa1" /><Relationship Type="http://schemas.openxmlformats.org/officeDocument/2006/relationships/slideLayout" Target="/ppt/slideLayouts/slideLayout1.xml" Id="R970a3d5fefe747ec" /><Relationship Type="http://schemas.openxmlformats.org/officeDocument/2006/relationships/slideLayout" Target="/ppt/slideLayouts/slideLayout2.xml" Id="Rdde5fe6c9f084c94" /><Relationship Type="http://schemas.openxmlformats.org/officeDocument/2006/relationships/slideLayout" Target="/ppt/slideLayouts/slideLayout3.xml" Id="R43cb56d5ca444e66" /><Relationship Type="http://schemas.openxmlformats.org/officeDocument/2006/relationships/slideLayout" Target="/ppt/slideLayouts/slideLayout4.xml" Id="R4e2b20aa10b04e09" /><Relationship Type="http://schemas.openxmlformats.org/officeDocument/2006/relationships/slideLayout" Target="/ppt/slideLayouts/slideLayout5.xml" Id="Rbd713dcbc6154b87" /><Relationship Type="http://schemas.openxmlformats.org/officeDocument/2006/relationships/slideLayout" Target="/ppt/slideLayouts/slideLayout6.xml" Id="Re362e38f4364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a3d5fefe747ec"/>
    <p:sldLayoutId xmlns:r="http://schemas.openxmlformats.org/officeDocument/2006/relationships" id="2147483650" r:id="Rdde5fe6c9f084c94"/>
    <p:sldLayoutId xmlns:r="http://schemas.openxmlformats.org/officeDocument/2006/relationships" id="2147483651" r:id="R43cb56d5ca444e66"/>
    <p:sldLayoutId xmlns:r="http://schemas.openxmlformats.org/officeDocument/2006/relationships" id="2147483652" r:id="R4e2b20aa10b04e09"/>
    <p:sldLayoutId xmlns:r="http://schemas.openxmlformats.org/officeDocument/2006/relationships" id="2147483653" r:id="Rbd713dcbc6154b87"/>
    <p:sldLayoutId xmlns:r="http://schemas.openxmlformats.org/officeDocument/2006/relationships" id="2147483654" r:id="Re362e38f4364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af5fd6ac0404e" /><Relationship Type="http://schemas.openxmlformats.org/officeDocument/2006/relationships/image" Target="/ppt/media/image.png" Id="Rdcd8c441c2da48b9" /><Relationship Type="http://schemas.openxmlformats.org/officeDocument/2006/relationships/notesSlide" Target="/ppt/notesSlides/notesSlide1.xml" Id="R2f13c64a1ec345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1e6fa63db4490" /><Relationship Type="http://schemas.openxmlformats.org/officeDocument/2006/relationships/image" Target="/ppt/media/image.jpeg" Id="R16b870476db647ae" /><Relationship Type="http://schemas.openxmlformats.org/officeDocument/2006/relationships/notesSlide" Target="/ppt/notesSlides/notesSlide2.xml" Id="Rcba7123d653346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f069a7a034166" /><Relationship Type="http://schemas.openxmlformats.org/officeDocument/2006/relationships/image" Target="/ppt/media/image2.png" Id="R70c990126aa942a8" /><Relationship Type="http://schemas.openxmlformats.org/officeDocument/2006/relationships/notesSlide" Target="/ppt/notesSlides/notesSlide3.xml" Id="R35cd188ff5dc48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8228e982a44ac" /><Relationship Type="http://schemas.openxmlformats.org/officeDocument/2006/relationships/notesSlide" Target="/ppt/notesSlides/notesSlide4.xml" Id="R5aa07010f4e2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e389014b64d0d" /><Relationship Type="http://schemas.openxmlformats.org/officeDocument/2006/relationships/notesSlide" Target="/ppt/notesSlides/notesSlide5.xml" Id="R058c24264c0547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a5e41f4304b74" /><Relationship Type="http://schemas.openxmlformats.org/officeDocument/2006/relationships/notesSlide" Target="/ppt/notesSlides/notesSlide6.xml" Id="R502fe42fa57a41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a642006694710" /><Relationship Type="http://schemas.openxmlformats.org/officeDocument/2006/relationships/notesSlide" Target="/ppt/notesSlides/notesSlide7.xml" Id="R3114c318598c4a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30fa8f3fd4da2" /><Relationship Type="http://schemas.openxmlformats.org/officeDocument/2006/relationships/notesSlide" Target="/ppt/notesSlides/notesSlide8.xml" Id="Rcc47cb163ca44c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b9ff9111d4063" /><Relationship Type="http://schemas.openxmlformats.org/officeDocument/2006/relationships/notesSlide" Target="/ppt/notesSlides/notesSlide9.xml" Id="Re6ce75f6993a45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dc68c1e634f65" /><Relationship Type="http://schemas.openxmlformats.org/officeDocument/2006/relationships/notesSlide" Target="/ppt/notesSlides/notesSlide10.xml" Id="R58dcd68f80824d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686cd5c484d24" /><Relationship Type="http://schemas.openxmlformats.org/officeDocument/2006/relationships/notesSlide" Target="/ppt/notesSlides/notesSlide11.xml" Id="Rc73d9efbe03947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679b3cef54537" /><Relationship Type="http://schemas.openxmlformats.org/officeDocument/2006/relationships/notesSlide" Target="/ppt/notesSlides/notesSlide12.xml" Id="R98b16a6b619649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6007813b84784" /><Relationship Type="http://schemas.openxmlformats.org/officeDocument/2006/relationships/image" Target="/ppt/media/image3.png" Id="Ra555f0990aec4f15" /><Relationship Type="http://schemas.openxmlformats.org/officeDocument/2006/relationships/notesSlide" Target="/ppt/notesSlides/notesSlide13.xml" Id="R3511ee5f4b454e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F23BB-E2F2-413C-8738-E81F5202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3C917-ED56-4F4D-B10C-5D47E26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E2B4F-6B25-4664-802B-B5AF00A62F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8c441c2da48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E4ADF-AB7E-46A2-8000-3E5C71D9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1447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4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94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4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驭智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5A332-1078-4ABD-9DB0-B5C45CED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0997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面向 AI 时代的新一代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计算机教育考核平台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8ED26-C28E-483F-9EFB-EB7F5D3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张京鹏   人工智能学院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C436-A52B-4937-8786-469413CF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项目方案汇报</a:t>
            </a:r>
          </a:p>
        </p:txBody>
      </p:sp>
    </p:spTree>
    <p:extLst>
      <p:ext uri="{BB962C8B-B14F-4D97-AF65-F5344CB8AC3E}">
        <p14:creationId xmlns:p14="http://schemas.microsoft.com/office/powerpoint/2010/main" val="1834107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920F7-BB0E-4C34-B558-714F425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  关于我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F8400-1A6A-4842-8360-AB31BE23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64F62-1A70-4F12-A1FF-58E2F3D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5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5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张京鹏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32DCF-EDA7-4E91-863E-865D027A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人工智能学院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72451-36C6-4860-AF5A-2818592F82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870476db647ae"/>
          <a:stretch xmlns:a="http://schemas.openxmlformats.org/drawingml/2006/main"/>
        </p:blipFill>
        <p:spPr>
          <a:xfrm xmlns:a="http://schemas.openxmlformats.org/drawingml/2006/main">
            <a:off x="8734425" y="1153697"/>
            <a:ext cx="2571750" cy="28170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5D838-EF86-42EF-8C1A-D04001E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数学竞赛省一等奖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D4119-145A-47EE-8403-D995E895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熟练掌握 AI 基础知识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533AF-7F28-4C51-B066-F2AE17A3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7858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目前从事 LLM 后训练、强化学习、Agent 相关科研工作</a:t>
            </a:r>
          </a:p>
        </p:txBody>
      </p:sp>
    </p:spTree>
    <p:extLst>
      <p:ext uri="{BB962C8B-B14F-4D97-AF65-F5344CB8AC3E}">
        <p14:creationId xmlns:p14="http://schemas.microsoft.com/office/powerpoint/2010/main" val="1162544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9F934-DF04-4203-9B23-A3E9289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当前考核的两种困境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1B1E1-8AFC-41EF-9E8B-B9EDF2C6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  痛点分析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AE80B-12A7-490C-975D-4CCBA7D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A63AE-1F59-42B8-8576-A2B860C8C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990126aa942a8"/>
          <a:srcRect xmlns:a="http://schemas.openxmlformats.org/drawingml/2006/main" l="0" t="14463" r="0" b="1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" y="1562100"/>
            <a:ext cx="952500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D17E3-B144-4290-B695-E9F349C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完全代做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7895B-05B6-4BCE-A914-550FDDC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作业完成了，理解没有得到证明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B42FA-1ED1-46E5-AA97-839382F0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完全禁用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54F35-A276-4E86-8FAE-8F6C93A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864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检验独立编程，难以覆盖 AI 协作</a:t>
            </a:r>
          </a:p>
        </p:txBody>
      </p:sp>
    </p:spTree>
    <p:extLst>
      <p:ext uri="{BB962C8B-B14F-4D97-AF65-F5344CB8AC3E}">
        <p14:creationId xmlns:p14="http://schemas.microsoft.com/office/powerpoint/2010/main" val="1122666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3  项目主张">
            <a:extLst xmlns:a="http://schemas.openxmlformats.org/drawingml/2006/main">
              <a:ext uri="{FF2B5EF4-FFF2-40B4-BE49-F238E27FC236}">
                <a16:creationId xmlns:a16="http://schemas.microsoft.com/office/drawing/2014/main" id="{158682A0-4596-498D-86A6-2AF655E5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03  项目主张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7FF21CDD-82F4-4942-BAC3-A219B560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" name="考核中开放受限 AI">
            <a:extLst xmlns:a="http://schemas.openxmlformats.org/drawingml/2006/main">
              <a:ext uri="{FF2B5EF4-FFF2-40B4-BE49-F238E27FC236}">
                <a16:creationId xmlns:a16="http://schemas.microsoft.com/office/drawing/2014/main" id="{2DCF797B-EED3-4A17-8B72-4028812E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在考核中引入协同AI助手</a:t>
            </a:r>
          </a:p>
        </p:txBody>
      </p:sp>
      <p:sp>
        <p:nvSpPr>
          <p:cNvPr id="4" name="教师依据课程目标划定考点">
            <a:extLst xmlns:a="http://schemas.openxmlformats.org/drawingml/2006/main">
              <a:ext uri="{FF2B5EF4-FFF2-40B4-BE49-F238E27FC236}">
                <a16:creationId xmlns:a16="http://schemas.microsoft.com/office/drawing/2014/main" id="{98A1A563-FF7B-4F57-B8A3-68D1B69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教师依据课程目标划定考点</a:t>
            </a:r>
          </a:p>
        </p:txBody>
      </p:sp>
      <p:sp>
        <p:nvSpPr>
          <p:cNvPr id="5" name="学生">
            <a:extLst xmlns:a="http://schemas.openxmlformats.org/drawingml/2006/main">
              <a:ext uri="{FF2B5EF4-FFF2-40B4-BE49-F238E27FC236}">
                <a16:creationId xmlns:a16="http://schemas.microsoft.com/office/drawing/2014/main" id="{3E330678-2AD8-487B-A2C5-9C5E4DC3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学生</a:t>
            </a:r>
          </a:p>
        </p:txBody>
      </p:sp>
      <p:sp>
        <p:nvSpPr>
          <p:cNvPr id="6" name="规划与决策">
            <a:extLst xmlns:a="http://schemas.openxmlformats.org/drawingml/2006/main">
              <a:ext uri="{FF2B5EF4-FFF2-40B4-BE49-F238E27FC236}">
                <a16:creationId xmlns:a16="http://schemas.microsoft.com/office/drawing/2014/main" id="{21819B41-A875-47F4-A31F-F1A9A294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规划与决策</a:t>
            </a:r>
          </a:p>
        </p:txBody>
      </p:sp>
      <p:sp>
        <p:nvSpPr>
          <p:cNvPr id="7" name="运用课程知识，明确核心方案">
            <a:extLst xmlns:a="http://schemas.openxmlformats.org/drawingml/2006/main">
              <a:ext uri="{FF2B5EF4-FFF2-40B4-BE49-F238E27FC236}">
                <a16:creationId xmlns:a16="http://schemas.microsoft.com/office/drawing/2014/main" id="{C49B8D1B-5C51-4994-B4D6-88834F48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运用课程知识，明确核心方案</a:t>
            </a:r>
          </a:p>
        </p:txBody>
      </p:sp>
      <p:sp>
        <p:nvSpPr>
          <p:cNvPr id="8" name="AI">
            <a:extLst xmlns:a="http://schemas.openxmlformats.org/drawingml/2006/main">
              <a:ext uri="{FF2B5EF4-FFF2-40B4-BE49-F238E27FC236}">
                <a16:creationId xmlns:a16="http://schemas.microsoft.com/office/drawing/2014/main" id="{CF60AC91-B245-4257-AD52-C4F22B1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AI</a:t>
            </a:r>
          </a:p>
        </p:txBody>
      </p:sp>
      <p:sp>
        <p:nvSpPr>
          <p:cNvPr id="9" name="具体实现">
            <a:extLst xmlns:a="http://schemas.openxmlformats.org/drawingml/2006/main">
              <a:ext uri="{FF2B5EF4-FFF2-40B4-BE49-F238E27FC236}">
                <a16:creationId xmlns:a16="http://schemas.microsoft.com/office/drawing/2014/main" id="{E70857BC-964C-4A8C-A366-31609137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具体实现</a:t>
            </a:r>
          </a:p>
        </p:txBody>
      </p:sp>
      <p:sp>
        <p:nvSpPr>
          <p:cNvPr id="10" name="按学生的方案，完成允许的工作">
            <a:extLst xmlns:a="http://schemas.openxmlformats.org/drawingml/2006/main">
              <a:ext uri="{FF2B5EF4-FFF2-40B4-BE49-F238E27FC236}">
                <a16:creationId xmlns:a16="http://schemas.microsoft.com/office/drawing/2014/main" id="{60A1A2F4-024F-403A-A623-7B51A7B1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按学生的方案，完成允许的工作</a:t>
            </a:r>
          </a:p>
        </p:txBody>
      </p:sp>
      <p:sp>
        <p:nvSpPr>
          <p:cNvPr id="11" name="关键决策留给学生，结果仍由学生检验">
            <a:extLst xmlns:a="http://schemas.openxmlformats.org/drawingml/2006/main">
              <a:ext uri="{FF2B5EF4-FFF2-40B4-BE49-F238E27FC236}">
                <a16:creationId xmlns:a16="http://schemas.microsoft.com/office/drawing/2014/main" id="{568DAD90-6E76-4D39-8907-28D6938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关键决策留给学生，结果仍由学生检验</a:t>
            </a:r>
          </a:p>
        </p:txBody>
      </p:sp>
    </p:spTree>
    <p:extLst>
      <p:ext uri="{BB962C8B-B14F-4D97-AF65-F5344CB8AC3E}">
        <p14:creationId xmlns:p14="http://schemas.microsoft.com/office/powerpoint/2010/main" val="1578943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04  教育价值 / 01">
            <a:extLst xmlns:a="http://schemas.openxmlformats.org/drawingml/2006/main">
              <a:ext uri="{FF2B5EF4-FFF2-40B4-BE49-F238E27FC236}">
                <a16:creationId xmlns:a16="http://schemas.microsoft.com/office/drawing/2014/main" id="{7DE4BB7C-53F4-438F-A78E-D0A694E3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  教育价值 / 01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F53A6423-15D1-430A-A617-9592069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" name="培养合理使用 AI、驾驭 AI 的能力">
            <a:extLst xmlns:a="http://schemas.openxmlformats.org/drawingml/2006/main">
              <a:ext uri="{FF2B5EF4-FFF2-40B4-BE49-F238E27FC236}">
                <a16:creationId xmlns:a16="http://schemas.microsoft.com/office/drawing/2014/main" id="{B9E07D01-5CA2-4D1E-AAA8-9A4825CE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培养合理使用 AI、驾驭 AI 的能力</a:t>
            </a:r>
          </a:p>
        </p:txBody>
      </p:sp>
      <p:sp>
        <p:nvSpPr>
          <p:cNvPr id="4" name="考核认可什么，学生就更有动力练习什么">
            <a:extLst xmlns:a="http://schemas.openxmlformats.org/drawingml/2006/main">
              <a:ext uri="{FF2B5EF4-FFF2-40B4-BE49-F238E27FC236}">
                <a16:creationId xmlns:a16="http://schemas.microsoft.com/office/drawing/2014/main" id="{77259265-F6E3-457B-8A8E-CFAA4B77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考核认可什么，学生就更有动力练习什么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B042FD95-DA87-472C-A7E0-3D2C4964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表达方案">
            <a:extLst xmlns:a="http://schemas.openxmlformats.org/drawingml/2006/main">
              <a:ext uri="{FF2B5EF4-FFF2-40B4-BE49-F238E27FC236}">
                <a16:creationId xmlns:a16="http://schemas.microsoft.com/office/drawing/2014/main" id="{3307D80F-A293-426C-A74B-F5D62CC2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表达方案</a:t>
            </a:r>
          </a:p>
        </p:txBody>
      </p:sp>
      <p:sp>
        <p:nvSpPr>
          <p:cNvPr id="7" name="说清自己的判断&#10;明确目标与约束">
            <a:extLst xmlns:a="http://schemas.openxmlformats.org/drawingml/2006/main">
              <a:ext uri="{FF2B5EF4-FFF2-40B4-BE49-F238E27FC236}">
                <a16:creationId xmlns:a16="http://schemas.microsoft.com/office/drawing/2014/main" id="{8226326C-9CB4-42AB-BB5B-27FAE263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说清自己的判断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明确目标与约束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2F2841EC-00E4-473D-A084-652ACAC6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9" name="组织实现">
            <a:extLst xmlns:a="http://schemas.openxmlformats.org/drawingml/2006/main">
              <a:ext uri="{FF2B5EF4-FFF2-40B4-BE49-F238E27FC236}">
                <a16:creationId xmlns:a16="http://schemas.microsoft.com/office/drawing/2014/main" id="{D1F7FE45-94C6-4EAE-8A72-F0A8A44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组织实现</a:t>
            </a:r>
          </a:p>
        </p:txBody>
      </p:sp>
      <p:sp>
        <p:nvSpPr>
          <p:cNvPr id="10" name="把方案交给 AI&#10;保持任务方向">
            <a:extLst xmlns:a="http://schemas.openxmlformats.org/drawingml/2006/main">
              <a:ext uri="{FF2B5EF4-FFF2-40B4-BE49-F238E27FC236}">
                <a16:creationId xmlns:a16="http://schemas.microsoft.com/office/drawing/2014/main" id="{6721CA5A-D70B-4A15-B3E6-1EEE69D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9105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把方案交给 AI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保持任务方向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DF2FA5BB-BF16-49EE-86FD-08151681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2" name="审查输出">
            <a:extLst xmlns:a="http://schemas.openxmlformats.org/drawingml/2006/main">
              <a:ext uri="{FF2B5EF4-FFF2-40B4-BE49-F238E27FC236}">
                <a16:creationId xmlns:a16="http://schemas.microsoft.com/office/drawing/2014/main" id="{5C4C0CA8-3CD0-4DE9-AB97-B39B52FE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57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审查输出</a:t>
            </a:r>
          </a:p>
        </p:txBody>
      </p:sp>
      <p:sp>
        <p:nvSpPr>
          <p:cNvPr id="13" name="核对代码与设计&#10;发现偏差与遗漏">
            <a:extLst xmlns:a="http://schemas.openxmlformats.org/drawingml/2006/main">
              <a:ext uri="{FF2B5EF4-FFF2-40B4-BE49-F238E27FC236}">
                <a16:creationId xmlns:a16="http://schemas.microsoft.com/office/drawing/2014/main" id="{6588CD42-6D17-4032-8399-FF2E9709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核对代码与设计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发现偏差与遗漏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0B8947C8-124D-435A-B69C-ECD6B8C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48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5" name="验证结果">
            <a:extLst xmlns:a="http://schemas.openxmlformats.org/drawingml/2006/main">
              <a:ext uri="{FF2B5EF4-FFF2-40B4-BE49-F238E27FC236}">
                <a16:creationId xmlns:a16="http://schemas.microsoft.com/office/drawing/2014/main" id="{43F31858-CE43-4498-BCEA-139E828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57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验证结果</a:t>
            </a:r>
          </a:p>
        </p:txBody>
      </p:sp>
      <p:sp>
        <p:nvSpPr>
          <p:cNvPr id="16" name="设计检验方法&#10;解释并确认结果">
            <a:extLst xmlns:a="http://schemas.openxmlformats.org/drawingml/2006/main">
              <a:ext uri="{FF2B5EF4-FFF2-40B4-BE49-F238E27FC236}">
                <a16:creationId xmlns:a16="http://schemas.microsoft.com/office/drawing/2014/main" id="{2A9F01B4-7557-40E7-8643-1C83005F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59105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设计检验方法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解释并确认结果</a:t>
            </a:r>
          </a:p>
        </p:txBody>
      </p:sp>
      <p:sp>
        <p:nvSpPr>
          <p:cNvPr id="17" name="AI-Native 应用型人才：用专业判断指挥 A">
            <a:extLst xmlns:a="http://schemas.openxmlformats.org/drawingml/2006/main">
              <a:ext uri="{FF2B5EF4-FFF2-40B4-BE49-F238E27FC236}">
                <a16:creationId xmlns:a16="http://schemas.microsoft.com/office/drawing/2014/main" id="{2192400A-FF44-4858-9A70-828C334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AI-Native 应用型人才：用专业判断指挥 AI，并对结果负责</a:t>
            </a:r>
          </a:p>
        </p:txBody>
      </p:sp>
    </p:spTree>
    <p:extLst>
      <p:ext uri="{BB962C8B-B14F-4D97-AF65-F5344CB8AC3E}">
        <p14:creationId xmlns:p14="http://schemas.microsoft.com/office/powerpoint/2010/main" val="1925547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4  教育价值 / 02">
            <a:extLst xmlns:a="http://schemas.openxmlformats.org/drawingml/2006/main">
              <a:ext uri="{FF2B5EF4-FFF2-40B4-BE49-F238E27FC236}">
                <a16:creationId xmlns:a16="http://schemas.microsoft.com/office/drawing/2014/main" id="{B1E945D6-D2FC-4998-8EF3-3753D39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  教育价值 / 02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0E541A64-8050-425C-BB4D-1CE383A4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3" name="让考核更聚焦课程考点">
            <a:extLst xmlns:a="http://schemas.openxmlformats.org/drawingml/2006/main">
              <a:ext uri="{FF2B5EF4-FFF2-40B4-BE49-F238E27FC236}">
                <a16:creationId xmlns:a16="http://schemas.microsoft.com/office/drawing/2014/main" id="{449AC6AD-F847-4BE5-BD7C-E3EEDC0C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让考核更聚焦课程考点</a:t>
            </a:r>
          </a:p>
        </p:txBody>
      </p:sp>
      <p:sp>
        <p:nvSpPr>
          <p:cNvPr id="4" name="以数据结构与算法课程为例">
            <a:extLst xmlns:a="http://schemas.openxmlformats.org/drawingml/2006/main">
              <a:ext uri="{FF2B5EF4-FFF2-40B4-BE49-F238E27FC236}">
                <a16:creationId xmlns:a16="http://schemas.microsoft.com/office/drawing/2014/main" id="{9FD8C290-B600-4A8E-9EBA-4275A2FB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以数据结构与算法课程为例</a:t>
            </a:r>
          </a:p>
        </p:txBody>
      </p:sp>
      <p:sp>
        <p:nvSpPr>
          <p:cNvPr id="5" name="传统编程题">
            <a:extLst xmlns:a="http://schemas.openxmlformats.org/drawingml/2006/main">
              <a:ext uri="{FF2B5EF4-FFF2-40B4-BE49-F238E27FC236}">
                <a16:creationId xmlns:a16="http://schemas.microsoft.com/office/drawing/2014/main" id="{3FBDDD47-982C-43DB-8A36-003E643D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传统编程题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B632C-FB97-4695-96AD-80588401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90800"/>
            <a:ext cx="26098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1"/>
          </a:solidFill>
          <a:ln xmlns:a="http://schemas.openxmlformats.org/drawingml/2006/main" w="0">
            <a:noFill/>
          </a:ln>
        </p:spPr>
      </p:sp>
      <p:sp>
        <p:nvSpPr>
          <p:cNvPr id="7" name="代码表达与调试">
            <a:extLst xmlns:a="http://schemas.openxmlformats.org/drawingml/2006/main">
              <a:ext uri="{FF2B5EF4-FFF2-40B4-BE49-F238E27FC236}">
                <a16:creationId xmlns:a16="http://schemas.microsoft.com/office/drawing/2014/main" id="{A5C57724-8011-4490-AD13-981B269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098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代码表达与调试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9BF4E-61E9-40CA-A61E-E5892458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90800"/>
            <a:ext cx="26098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1"/>
          </a:solidFill>
          <a:ln xmlns:a="http://schemas.openxmlformats.org/drawingml/2006/main" w="0">
            <a:noFill/>
          </a:ln>
        </p:spPr>
      </p:sp>
      <p:sp>
        <p:nvSpPr>
          <p:cNvPr id="9" name="数据结构选择">
            <a:extLst xmlns:a="http://schemas.openxmlformats.org/drawingml/2006/main">
              <a:ext uri="{FF2B5EF4-FFF2-40B4-BE49-F238E27FC236}">
                <a16:creationId xmlns:a16="http://schemas.microsoft.com/office/drawing/2014/main" id="{3D93BFEA-573D-42D4-A709-F65FFB63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098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数据结构选择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DE877-375A-49A6-B319-017E3D58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90800"/>
            <a:ext cx="26098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1"/>
          </a:solidFill>
          <a:ln xmlns:a="http://schemas.openxmlformats.org/drawingml/2006/main" w="0">
            <a:noFill/>
          </a:ln>
        </p:spPr>
      </p:sp>
      <p:sp>
        <p:nvSpPr>
          <p:cNvPr id="11" name="算法设计">
            <a:extLst xmlns:a="http://schemas.openxmlformats.org/drawingml/2006/main">
              <a:ext uri="{FF2B5EF4-FFF2-40B4-BE49-F238E27FC236}">
                <a16:creationId xmlns:a16="http://schemas.microsoft.com/office/drawing/2014/main" id="{41A81716-37CD-4112-AB31-71D26EC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098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算法设计</a:t>
            </a:r>
          </a:p>
        </p:txBody>
      </p:sp>
      <p:sp>
        <p:nvSpPr>
          <p:cNvPr id="12" name="多项要求叠加，具体实现可能占用大量作答时间">
            <a:extLst xmlns:a="http://schemas.openxmlformats.org/drawingml/2006/main">
              <a:ext uri="{FF2B5EF4-FFF2-40B4-BE49-F238E27FC236}">
                <a16:creationId xmlns:a16="http://schemas.microsoft.com/office/drawing/2014/main" id="{BD9AB312-EE4C-4604-997F-13053D4E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19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多项要求叠加，具体实现可能占用大量作答时间</a:t>
            </a:r>
          </a:p>
        </p:txBody>
      </p:sp>
      <p:sp>
        <p:nvSpPr>
          <p:cNvPr id="13" name="受限 AI 协作">
            <a:extLst xmlns:a="http://schemas.openxmlformats.org/drawingml/2006/main">
              <a:ext uri="{FF2B5EF4-FFF2-40B4-BE49-F238E27FC236}">
                <a16:creationId xmlns:a16="http://schemas.microsoft.com/office/drawing/2014/main" id="{BC6ACD98-58F4-4AC1-8400-51BB93BD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协同AI助手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8BA8D-36E9-477F-9E91-64C0B5B3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362450"/>
            <a:ext cx="2609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1"/>
          </a:solidFill>
          <a:ln xmlns:a="http://schemas.openxmlformats.org/drawingml/2006/main" w="0">
            <a:noFill/>
          </a:ln>
        </p:spPr>
      </p:sp>
      <p:sp>
        <p:nvSpPr>
          <p:cNvPr id="15" name="AI 承担考点外实现">
            <a:extLst xmlns:a="http://schemas.openxmlformats.org/drawingml/2006/main">
              <a:ext uri="{FF2B5EF4-FFF2-40B4-BE49-F238E27FC236}">
                <a16:creationId xmlns:a16="http://schemas.microsoft.com/office/drawing/2014/main" id="{661C1622-694E-420A-B7FA-97C6364B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00" b="1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AI 承担考点外实现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F8B7-5B44-4B12-AAA6-2D5B74EC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62450"/>
            <a:ext cx="542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5D1"/>
          </a:solidFill>
          <a:ln xmlns:a="http://schemas.openxmlformats.org/drawingml/2006/main" w="0">
            <a:noFill/>
          </a:ln>
        </p:spPr>
      </p:sp>
      <p:sp>
        <p:nvSpPr>
          <p:cNvPr id="17" name="学生负责数据结构与算法决策">
            <a:extLst xmlns:a="http://schemas.openxmlformats.org/drawingml/2006/main">
              <a:ext uri="{FF2B5EF4-FFF2-40B4-BE49-F238E27FC236}">
                <a16:creationId xmlns:a16="http://schemas.microsoft.com/office/drawing/2014/main" id="{8EC0C1D0-DBE8-4CC3-9D1A-4E6C17E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291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学生负责数据结构与算法决策</a:t>
            </a:r>
          </a:p>
        </p:txBody>
      </p:sp>
      <p:sp>
        <p:nvSpPr>
          <p:cNvPr id="18" name="预期价值：减少考点外负担，让目标知识的理解更充分地">
            <a:extLst xmlns:a="http://schemas.openxmlformats.org/drawingml/2006/main">
              <a:ext uri="{FF2B5EF4-FFF2-40B4-BE49-F238E27FC236}">
                <a16:creationId xmlns:a16="http://schemas.microsoft.com/office/drawing/2014/main" id="{0152FB13-8B8C-4843-9AAF-F141F0F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预期价值：减少考点外负担，让目标知识的理解更充分地呈现</a:t>
            </a:r>
          </a:p>
        </p:txBody>
      </p:sp>
    </p:spTree>
    <p:extLst>
      <p:ext uri="{BB962C8B-B14F-4D97-AF65-F5344CB8AC3E}">
        <p14:creationId xmlns:p14="http://schemas.microsoft.com/office/powerpoint/2010/main" val="1080740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4  教育价值 / 03">
            <a:extLst xmlns:a="http://schemas.openxmlformats.org/drawingml/2006/main">
              <a:ext uri="{FF2B5EF4-FFF2-40B4-BE49-F238E27FC236}">
                <a16:creationId xmlns:a16="http://schemas.microsoft.com/office/drawing/2014/main" id="{CDF63587-6179-458B-B761-EF19E14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  教育价值 / 03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932F7102-4913-4A39-9C7E-95F1CA5F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3" name="过程性评价提供更充分的判断依据">
            <a:extLst xmlns:a="http://schemas.openxmlformats.org/drawingml/2006/main">
              <a:ext uri="{FF2B5EF4-FFF2-40B4-BE49-F238E27FC236}">
                <a16:creationId xmlns:a16="http://schemas.microsoft.com/office/drawing/2014/main" id="{02F354A2-64E3-4B7D-9D17-C20E9135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过程性评价提供更充分的判断依据</a:t>
            </a:r>
          </a:p>
        </p:txBody>
      </p:sp>
      <p:sp>
        <p:nvSpPr>
          <p:cNvPr id="4" name="最终结果">
            <a:extLst xmlns:a="http://schemas.openxmlformats.org/drawingml/2006/main">
              <a:ext uri="{FF2B5EF4-FFF2-40B4-BE49-F238E27FC236}">
                <a16:creationId xmlns:a16="http://schemas.microsoft.com/office/drawing/2014/main" id="{24F78FFD-012B-43DB-8AA6-A07A296A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46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最终结果</a:t>
            </a:r>
          </a:p>
        </p:txBody>
      </p:sp>
      <p:sp>
        <p:nvSpPr>
          <p:cNvPr id="5" name="程序是否完成&#10;输出是否正确">
            <a:extLst xmlns:a="http://schemas.openxmlformats.org/drawingml/2006/main">
              <a:ext uri="{FF2B5EF4-FFF2-40B4-BE49-F238E27FC236}">
                <a16:creationId xmlns:a16="http://schemas.microsoft.com/office/drawing/2014/main" id="{99BA075D-025C-4574-9B6D-703524ED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程序是否完成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输出是否正确</a:t>
            </a:r>
          </a:p>
        </p:txBody>
      </p:sp>
      <p:sp>
        <p:nvSpPr>
          <p:cNvPr id="6" name="过程证据">
            <a:extLst xmlns:a="http://schemas.openxmlformats.org/drawingml/2006/main">
              <a:ext uri="{FF2B5EF4-FFF2-40B4-BE49-F238E27FC236}">
                <a16:creationId xmlns:a16="http://schemas.microsoft.com/office/drawing/2014/main" id="{32F6B0D2-99C5-401E-AFE9-A28AE3FB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46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过程证据</a:t>
            </a:r>
          </a:p>
        </p:txBody>
      </p:sp>
      <p:sp>
        <p:nvSpPr>
          <p:cNvPr id="7" name="方案由谁提出">
            <a:extLst xmlns:a="http://schemas.openxmlformats.org/drawingml/2006/main">
              <a:ext uri="{FF2B5EF4-FFF2-40B4-BE49-F238E27FC236}">
                <a16:creationId xmlns:a16="http://schemas.microsoft.com/office/drawing/2014/main" id="{F2ADDA3B-DC40-4F2E-9D35-4D6AB2E4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方案由谁提出</a:t>
            </a:r>
          </a:p>
        </p:txBody>
      </p:sp>
      <p:sp>
        <p:nvSpPr>
          <p:cNvPr id="8" name="AI 承担了什么">
            <a:extLst xmlns:a="http://schemas.openxmlformats.org/drawingml/2006/main">
              <a:ext uri="{FF2B5EF4-FFF2-40B4-BE49-F238E27FC236}">
                <a16:creationId xmlns:a16="http://schemas.microsoft.com/office/drawing/2014/main" id="{A3080A79-ABD1-40ED-87EA-D1CEF699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AI 承担了什么</a:t>
            </a:r>
          </a:p>
        </p:txBody>
      </p:sp>
      <p:sp>
        <p:nvSpPr>
          <p:cNvPr id="9" name="学生如何检验与修正">
            <a:extLst xmlns:a="http://schemas.openxmlformats.org/drawingml/2006/main">
              <a:ext uri="{FF2B5EF4-FFF2-40B4-BE49-F238E27FC236}">
                <a16:creationId xmlns:a16="http://schemas.microsoft.com/office/drawing/2014/main" id="{AEEC1FBF-4456-42B9-879C-0188A81A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学生如何检验与修正</a:t>
            </a:r>
          </a:p>
        </p:txBody>
      </p:sp>
      <p:sp>
        <p:nvSpPr>
          <p:cNvPr id="10" name="结合结果与完整交互轨迹，判断本次任务中展示的理解与">
            <a:extLst xmlns:a="http://schemas.openxmlformats.org/drawingml/2006/main">
              <a:ext uri="{FF2B5EF4-FFF2-40B4-BE49-F238E27FC236}">
                <a16:creationId xmlns:a16="http://schemas.microsoft.com/office/drawing/2014/main" id="{DBE5A706-F9BC-4294-98B3-96B3E947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结合结果与完整交互轨迹，判断本次任务中展示的理解与能力</a:t>
            </a:r>
          </a:p>
        </p:txBody>
      </p:sp>
    </p:spTree>
    <p:extLst>
      <p:ext uri="{BB962C8B-B14F-4D97-AF65-F5344CB8AC3E}">
        <p14:creationId xmlns:p14="http://schemas.microsoft.com/office/powerpoint/2010/main" val="1079732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37120-F0EC-4EAF-BE44-F13B90B4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05  实现机制 / 协同AI助手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02C2E-5BF6-42DB-94FE-F1DAFCA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1E932-925B-4C2D-8872-AC997C5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协同AI助手的三条核心原则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8B4F2-5528-4DED-A9EC-AAFBA54E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53BFE-1ADE-4A86-8095-DF4D2EAC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38400"/>
            <a:ext cx="957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AI可以接管执行权，不能接管规划权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0AF53-7EEF-4CB1-A650-FDCDB71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6EEF5-6C04-4466-850B-34BFACD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81400"/>
            <a:ext cx="957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AI的每一行代码实现，都要能追溯到学生的原话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18EDD-A627-4760-9F46-7BA7C60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EFE26-472C-4015-B7AC-946CE6E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24400"/>
            <a:ext cx="9572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涉及考点的实现，要从学生那里问清楚实现细节；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不涉及考点的无关实现，只要学生有提及就可以代劳。</a:t>
            </a:r>
          </a:p>
        </p:txBody>
      </p:sp>
    </p:spTree>
    <p:extLst>
      <p:ext uri="{BB962C8B-B14F-4D97-AF65-F5344CB8AC3E}">
        <p14:creationId xmlns:p14="http://schemas.microsoft.com/office/powerpoint/2010/main" val="1039623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5  实现机制 / 受限 AI">
            <a:extLst xmlns:a="http://schemas.openxmlformats.org/drawingml/2006/main">
              <a:ext uri="{FF2B5EF4-FFF2-40B4-BE49-F238E27FC236}">
                <a16:creationId xmlns:a16="http://schemas.microsoft.com/office/drawing/2014/main" id="{AE86C002-E40F-46EC-B5DE-6CAD464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05  实现机制 / 协同AI助手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5213692-42CC-4119-BC1D-268F27C7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3" name="三条路径共同支撑行为边界">
            <a:extLst xmlns:a="http://schemas.openxmlformats.org/drawingml/2006/main">
              <a:ext uri="{FF2B5EF4-FFF2-40B4-BE49-F238E27FC236}">
                <a16:creationId xmlns:a16="http://schemas.microsoft.com/office/drawing/2014/main" id="{334EFC05-FC98-4897-9BCF-6B426303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三条路径共同支撑行为边界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8D618709-5E40-4AB2-8D64-D43D7B66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系统提示词">
            <a:extLst xmlns:a="http://schemas.openxmlformats.org/drawingml/2006/main">
              <a:ext uri="{FF2B5EF4-FFF2-40B4-BE49-F238E27FC236}">
                <a16:creationId xmlns:a16="http://schemas.microsoft.com/office/drawing/2014/main" id="{95E10448-3C42-45F1-A65F-444F2A4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系统提示词</a:t>
            </a:r>
          </a:p>
        </p:txBody>
      </p:sp>
      <p:sp>
        <p:nvSpPr>
          <p:cNvPr id="6" name="明确规则">
            <a:extLst xmlns:a="http://schemas.openxmlformats.org/drawingml/2006/main">
              <a:ext uri="{FF2B5EF4-FFF2-40B4-BE49-F238E27FC236}">
                <a16:creationId xmlns:a16="http://schemas.microsoft.com/office/drawing/2014/main" id="{F259402B-8373-412D-A5D9-8CD1F36B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明确规则</a:t>
            </a:r>
          </a:p>
        </p:txBody>
      </p:sp>
      <p:sp>
        <p:nvSpPr>
          <p:cNvPr id="7" name="限定助手职责&#10;规定澄清与执行方式">
            <a:extLst xmlns:a="http://schemas.openxmlformats.org/drawingml/2006/main">
              <a:ext uri="{FF2B5EF4-FFF2-40B4-BE49-F238E27FC236}">
                <a16:creationId xmlns:a16="http://schemas.microsoft.com/office/drawing/2014/main" id="{BA821C3F-5EE2-4449-A760-44D19696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32194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限定助手职责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规定澄清与执行方式</a:t>
            </a:r>
          </a:p>
        </p:txBody>
      </p:sp>
      <p:sp>
        <p:nvSpPr>
          <p:cNvPr id="8" name="已接入原型，持续验证">
            <a:extLst xmlns:a="http://schemas.openxmlformats.org/drawingml/2006/main">
              <a:ext uri="{FF2B5EF4-FFF2-40B4-BE49-F238E27FC236}">
                <a16:creationId xmlns:a16="http://schemas.microsoft.com/office/drawing/2014/main" id="{C26C2E2A-D097-4FD1-9A33-A8F0FCB8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已接入原型，持续验证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F0591863-4980-43B9-B519-B841F49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0" name="平台流程">
            <a:extLst xmlns:a="http://schemas.openxmlformats.org/drawingml/2006/main">
              <a:ext uri="{FF2B5EF4-FFF2-40B4-BE49-F238E27FC236}">
                <a16:creationId xmlns:a16="http://schemas.microsoft.com/office/drawing/2014/main" id="{3C0A25F5-9E24-467D-B9AA-41B1ABF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90900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平台流程</a:t>
            </a:r>
          </a:p>
        </p:txBody>
      </p:sp>
      <p:sp>
        <p:nvSpPr>
          <p:cNvPr id="11" name="约束操作顺序">
            <a:extLst xmlns:a="http://schemas.openxmlformats.org/drawingml/2006/main">
              <a:ext uri="{FF2B5EF4-FFF2-40B4-BE49-F238E27FC236}">
                <a16:creationId xmlns:a16="http://schemas.microsoft.com/office/drawing/2014/main" id="{012BD507-82C2-4CA5-A7E8-18BFCC62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约束操作顺序</a:t>
            </a:r>
          </a:p>
        </p:txBody>
      </p:sp>
      <p:sp>
        <p:nvSpPr>
          <p:cNvPr id="12" name="先提交规划，再开放 AI&#10;保留协作前的设计记录">
            <a:extLst xmlns:a="http://schemas.openxmlformats.org/drawingml/2006/main">
              <a:ext uri="{FF2B5EF4-FFF2-40B4-BE49-F238E27FC236}">
                <a16:creationId xmlns:a16="http://schemas.microsoft.com/office/drawing/2014/main" id="{D09B9346-9830-474F-A825-6005BF8D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2194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先提交规划，再开放 AI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保留协作前的设计记录</a:t>
            </a:r>
          </a:p>
        </p:txBody>
      </p:sp>
      <p:sp>
        <p:nvSpPr>
          <p:cNvPr id="13" name="已接入原型，持续验证">
            <a:extLst xmlns:a="http://schemas.openxmlformats.org/drawingml/2006/main">
              <a:ext uri="{FF2B5EF4-FFF2-40B4-BE49-F238E27FC236}">
                <a16:creationId xmlns:a16="http://schemas.microsoft.com/office/drawing/2014/main" id="{9FDD7210-A1D7-44B9-9DF8-D16D2517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435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已接入原型，持续验证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D72D768C-BEE0-40E1-BD90-872E534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5" name="模型后训练">
            <a:extLst xmlns:a="http://schemas.openxmlformats.org/drawingml/2006/main">
              <a:ext uri="{FF2B5EF4-FFF2-40B4-BE49-F238E27FC236}">
                <a16:creationId xmlns:a16="http://schemas.microsoft.com/office/drawing/2014/main" id="{DAB822B9-5E88-4803-9314-E3A6C7D3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模型后训练</a:t>
            </a:r>
          </a:p>
        </p:txBody>
      </p:sp>
      <p:sp>
        <p:nvSpPr>
          <p:cNvPr id="16" name="强化行为遵循">
            <a:extLst xmlns:a="http://schemas.openxmlformats.org/drawingml/2006/main">
              <a:ext uri="{FF2B5EF4-FFF2-40B4-BE49-F238E27FC236}">
                <a16:creationId xmlns:a16="http://schemas.microsoft.com/office/drawing/2014/main" id="{D8EC52F3-6881-4BFA-BB34-FF0A4C3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052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强化行为遵循</a:t>
            </a:r>
          </a:p>
        </p:txBody>
      </p:sp>
      <p:sp>
        <p:nvSpPr>
          <p:cNvPr id="17" name="筛选并审核交互样本&#10;训练与评测专用行为">
            <a:extLst xmlns:a="http://schemas.openxmlformats.org/drawingml/2006/main">
              <a:ext uri="{FF2B5EF4-FFF2-40B4-BE49-F238E27FC236}">
                <a16:creationId xmlns:a16="http://schemas.microsoft.com/office/drawing/2014/main" id="{F8DC6261-9FFD-4871-A7E6-6EAAACE7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2194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筛选并审核交互样本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训练与评测专用行为</a:t>
            </a:r>
          </a:p>
        </p:txBody>
      </p:sp>
      <p:sp>
        <p:nvSpPr>
          <p:cNvPr id="18" name="后续研究计划">
            <a:extLst xmlns:a="http://schemas.openxmlformats.org/drawingml/2006/main">
              <a:ext uri="{FF2B5EF4-FFF2-40B4-BE49-F238E27FC236}">
                <a16:creationId xmlns:a16="http://schemas.microsoft.com/office/drawing/2014/main" id="{96AB7F48-11B9-4543-8E18-1D970AB5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435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后续研究计划</a:t>
            </a:r>
          </a:p>
        </p:txBody>
      </p:sp>
    </p:spTree>
    <p:extLst>
      <p:ext uri="{BB962C8B-B14F-4D97-AF65-F5344CB8AC3E}">
        <p14:creationId xmlns:p14="http://schemas.microsoft.com/office/powerpoint/2010/main" val="503002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5  实现机制 / 过程评价">
            <a:extLst xmlns:a="http://schemas.openxmlformats.org/drawingml/2006/main">
              <a:ext uri="{FF2B5EF4-FFF2-40B4-BE49-F238E27FC236}">
                <a16:creationId xmlns:a16="http://schemas.microsoft.com/office/drawing/2014/main" id="{27EC73E7-2770-4797-8462-835C9529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05  实现机制 / 过程评价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B4D2427A-0DF4-44F6-9024-5925465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3" name="依据关键决策与验证行为进行评价">
            <a:extLst xmlns:a="http://schemas.openxmlformats.org/drawingml/2006/main">
              <a:ext uri="{FF2B5EF4-FFF2-40B4-BE49-F238E27FC236}">
                <a16:creationId xmlns:a16="http://schemas.microsoft.com/office/drawing/2014/main" id="{45A88B82-9973-4D94-832A-6758B663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依据关键决策与验证行为进行评价</a:t>
            </a:r>
          </a:p>
        </p:txBody>
      </p:sp>
      <p:sp>
        <p:nvSpPr>
          <p:cNvPr id="4" name="过程证据">
            <a:extLst xmlns:a="http://schemas.openxmlformats.org/drawingml/2006/main">
              <a:ext uri="{FF2B5EF4-FFF2-40B4-BE49-F238E27FC236}">
                <a16:creationId xmlns:a16="http://schemas.microsoft.com/office/drawing/2014/main" id="{CEB26FB1-D2A7-4F5F-A3A7-77D977B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过程证据</a:t>
            </a:r>
          </a:p>
        </p:txBody>
      </p:sp>
      <p:sp>
        <p:nvSpPr>
          <p:cNvPr id="5" name="规划版本与学生补充">
            <a:extLst xmlns:a="http://schemas.openxmlformats.org/drawingml/2006/main">
              <a:ext uri="{FF2B5EF4-FFF2-40B4-BE49-F238E27FC236}">
                <a16:creationId xmlns:a16="http://schemas.microsoft.com/office/drawing/2014/main" id="{F5C9602D-8435-4F71-8657-A45158A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规划版本与学生补充</a:t>
            </a:r>
          </a:p>
        </p:txBody>
      </p:sp>
      <p:sp>
        <p:nvSpPr>
          <p:cNvPr id="6" name="与 AI 的对话及代码变化">
            <a:extLst xmlns:a="http://schemas.openxmlformats.org/drawingml/2006/main">
              <a:ext uri="{FF2B5EF4-FFF2-40B4-BE49-F238E27FC236}">
                <a16:creationId xmlns:a16="http://schemas.microsoft.com/office/drawing/2014/main" id="{F14B77D4-70BA-424A-8C9D-E014075E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与 AI 的对话及代码变化</a:t>
            </a:r>
          </a:p>
        </p:txBody>
      </p:sp>
      <p:sp>
        <p:nvSpPr>
          <p:cNvPr id="7" name="运行结果与学生的解释">
            <a:extLst xmlns:a="http://schemas.openxmlformats.org/drawingml/2006/main">
              <a:ext uri="{FF2B5EF4-FFF2-40B4-BE49-F238E27FC236}">
                <a16:creationId xmlns:a16="http://schemas.microsoft.com/office/drawing/2014/main" id="{705697F0-CD31-4329-BB8A-3F3C2104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运行结果与学生的解释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81D63-5B9D-40F4-AC14-A6BEC01E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925" y="3810000"/>
            <a:ext cx="714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5D1"/>
          </a:solidFill>
          <a:ln xmlns:a="http://schemas.openxmlformats.org/drawingml/2006/main" w="0">
            <a:noFill/>
          </a:ln>
        </p:spPr>
      </p:sp>
      <p:sp>
        <p:nvSpPr>
          <p:cNvPr id="9" name="评价关注">
            <a:extLst xmlns:a="http://schemas.openxmlformats.org/drawingml/2006/main">
              <a:ext uri="{FF2B5EF4-FFF2-40B4-BE49-F238E27FC236}">
                <a16:creationId xmlns:a16="http://schemas.microsoft.com/office/drawing/2014/main" id="{B196BF4D-8DC2-4073-9651-B95E26CC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评价关注</a:t>
            </a:r>
          </a:p>
        </p:txBody>
      </p:sp>
      <p:sp>
        <p:nvSpPr>
          <p:cNvPr id="10" name="知识理解与运用">
            <a:extLst xmlns:a="http://schemas.openxmlformats.org/drawingml/2006/main">
              <a:ext uri="{FF2B5EF4-FFF2-40B4-BE49-F238E27FC236}">
                <a16:creationId xmlns:a16="http://schemas.microsoft.com/office/drawing/2014/main" id="{A669E4F7-804C-4B96-88BD-444166F0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知识理解与运用</a:t>
            </a:r>
          </a:p>
        </p:txBody>
      </p:sp>
      <p:sp>
        <p:nvSpPr>
          <p:cNvPr id="11" name="指挥、审查和验证 AI">
            <a:extLst xmlns:a="http://schemas.openxmlformats.org/drawingml/2006/main">
              <a:ext uri="{FF2B5EF4-FFF2-40B4-BE49-F238E27FC236}">
                <a16:creationId xmlns:a16="http://schemas.microsoft.com/office/drawing/2014/main" id="{E5913763-02A2-441E-9D7B-F8771C65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指挥、审查和验证 AI</a:t>
            </a:r>
          </a:p>
        </p:txBody>
      </p:sp>
      <p:sp>
        <p:nvSpPr>
          <p:cNvPr id="12" name="每项判断引用证据，由教师复核">
            <a:extLst xmlns:a="http://schemas.openxmlformats.org/drawingml/2006/main">
              <a:ext uri="{FF2B5EF4-FFF2-40B4-BE49-F238E27FC236}">
                <a16:creationId xmlns:a16="http://schemas.microsoft.com/office/drawing/2014/main" id="{D3153A12-75D1-494F-AF4E-EB14B21A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619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每项判断引用证据，由教师复核</a:t>
            </a:r>
          </a:p>
        </p:txBody>
      </p:sp>
      <p:sp>
        <p:nvSpPr>
          <p:cNvPr id="13" name="评价方案待实现与校准；交互次数、字数和修改次数不直">
            <a:extLst xmlns:a="http://schemas.openxmlformats.org/drawingml/2006/main">
              <a:ext uri="{FF2B5EF4-FFF2-40B4-BE49-F238E27FC236}">
                <a16:creationId xmlns:a16="http://schemas.microsoft.com/office/drawing/2014/main" id="{381CF263-0104-48C4-BFE2-BB32EFA7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评价方案待实现与校准；交互次数、字数和修改次数不直接计分</a:t>
            </a:r>
          </a:p>
        </p:txBody>
      </p:sp>
    </p:spTree>
    <p:extLst>
      <p:ext uri="{BB962C8B-B14F-4D97-AF65-F5344CB8AC3E}">
        <p14:creationId xmlns:p14="http://schemas.microsoft.com/office/powerpoint/2010/main" val="448727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5  实现机制 / 成长反馈">
            <a:extLst xmlns:a="http://schemas.openxmlformats.org/drawingml/2006/main">
              <a:ext uri="{FF2B5EF4-FFF2-40B4-BE49-F238E27FC236}">
                <a16:creationId xmlns:a16="http://schemas.microsoft.com/office/drawing/2014/main" id="{9B191FFF-2A0A-4939-9C8D-93C50489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05  实现机制 / 成长反馈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289E74D1-C6C0-4584-99B8-A9D91F6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3" name="过程评价也应看见学生的亮点">
            <a:extLst xmlns:a="http://schemas.openxmlformats.org/drawingml/2006/main">
              <a:ext uri="{FF2B5EF4-FFF2-40B4-BE49-F238E27FC236}">
                <a16:creationId xmlns:a16="http://schemas.microsoft.com/office/drawing/2014/main" id="{47B0799C-1378-4894-9395-D739218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过程评价也应看见学生的亮点</a:t>
            </a:r>
          </a:p>
        </p:txBody>
      </p:sp>
      <p:sp>
        <p:nvSpPr>
          <p:cNvPr id="4" name="值得认可的表现">
            <a:extLst xmlns:a="http://schemas.openxmlformats.org/drawingml/2006/main">
              <a:ext uri="{FF2B5EF4-FFF2-40B4-BE49-F238E27FC236}">
                <a16:creationId xmlns:a16="http://schemas.microsoft.com/office/drawing/2014/main" id="{15403191-34EB-4DC2-A9D9-BA73F23B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值得认可的表现</a:t>
            </a:r>
          </a:p>
        </p:txBody>
      </p:sp>
      <p:sp>
        <p:nvSpPr>
          <p:cNvPr id="5" name="合理的设计">
            <a:extLst xmlns:a="http://schemas.openxmlformats.org/drawingml/2006/main">
              <a:ext uri="{FF2B5EF4-FFF2-40B4-BE49-F238E27FC236}">
                <a16:creationId xmlns:a16="http://schemas.microsoft.com/office/drawing/2014/main" id="{8CBF0661-8471-4E11-BF2C-AFBB3DC0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合理的设计</a:t>
            </a:r>
          </a:p>
        </p:txBody>
      </p:sp>
      <p:sp>
        <p:nvSpPr>
          <p:cNvPr id="6" name="独立发现的问题">
            <a:extLst xmlns:a="http://schemas.openxmlformats.org/drawingml/2006/main">
              <a:ext uri="{FF2B5EF4-FFF2-40B4-BE49-F238E27FC236}">
                <a16:creationId xmlns:a16="http://schemas.microsoft.com/office/drawing/2014/main" id="{DA8CEDD3-6526-4409-88C9-8535247C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独立发现的问题</a:t>
            </a:r>
          </a:p>
        </p:txBody>
      </p:sp>
      <p:sp>
        <p:nvSpPr>
          <p:cNvPr id="7" name="有依据的验证">
            <a:extLst xmlns:a="http://schemas.openxmlformats.org/drawingml/2006/main">
              <a:ext uri="{FF2B5EF4-FFF2-40B4-BE49-F238E27FC236}">
                <a16:creationId xmlns:a16="http://schemas.microsoft.com/office/drawing/2014/main" id="{49050AFD-AF78-4110-B6B3-F675B6FC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38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有依据的验证</a:t>
            </a:r>
          </a:p>
        </p:txBody>
      </p:sp>
      <p:sp>
        <p:nvSpPr>
          <p:cNvPr id="8" name="具体认可&#10;清楚指出改进方向">
            <a:extLst xmlns:a="http://schemas.openxmlformats.org/drawingml/2006/main">
              <a:ext uri="{FF2B5EF4-FFF2-40B4-BE49-F238E27FC236}">
                <a16:creationId xmlns:a16="http://schemas.microsoft.com/office/drawing/2014/main" id="{C9B4EFBF-9F5F-4D85-84C6-FB43797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具体认可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清楚指出改进方向</a:t>
            </a:r>
          </a:p>
        </p:txBody>
      </p:sp>
      <p:sp>
        <p:nvSpPr>
          <p:cNvPr id="9" name="即使结果尚不完整，&#10;有价值的过程表现也应被看见">
            <a:extLst xmlns:a="http://schemas.openxmlformats.org/drawingml/2006/main">
              <a:ext uri="{FF2B5EF4-FFF2-40B4-BE49-F238E27FC236}">
                <a16:creationId xmlns:a16="http://schemas.microsoft.com/office/drawing/2014/main" id="{33FF1757-0A67-4FC4-B8B9-8B6889CC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即使结果尚不完整，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有价值的过程表现也应被看见</a:t>
            </a:r>
          </a:p>
        </p:txBody>
      </p:sp>
      <p:sp>
        <p:nvSpPr>
          <p:cNvPr id="10" name="提交后给予有证据的反馈，让评价服务于后续学习">
            <a:extLst xmlns:a="http://schemas.openxmlformats.org/drawingml/2006/main">
              <a:ext uri="{FF2B5EF4-FFF2-40B4-BE49-F238E27FC236}">
                <a16:creationId xmlns:a16="http://schemas.microsoft.com/office/drawing/2014/main" id="{56206976-789D-4929-B4C1-184E837A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BFCFFF"/>
                </a:solidFill>
                <a:latin typeface="Noto Sans CJK SC"/>
                <a:ea typeface="Noto Sans CJK SC"/>
                <a:cs typeface="Noto Sans CJK SC"/>
              </a:rPr>
              <a:t>提交后给予有证据的反馈，让评价服务于后续学习</a:t>
            </a:r>
          </a:p>
        </p:txBody>
      </p:sp>
    </p:spTree>
    <p:extLst>
      <p:ext uri="{BB962C8B-B14F-4D97-AF65-F5344CB8AC3E}">
        <p14:creationId xmlns:p14="http://schemas.microsoft.com/office/powerpoint/2010/main" val="870233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06  推广路径">
            <a:extLst xmlns:a="http://schemas.openxmlformats.org/drawingml/2006/main">
              <a:ext uri="{FF2B5EF4-FFF2-40B4-BE49-F238E27FC236}">
                <a16:creationId xmlns:a16="http://schemas.microsoft.com/office/drawing/2014/main" id="{8B9A2B1A-22BF-4FE3-AF77-DEEF34C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06  推广路径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DEC6CFC8-932A-4783-9872-C8B32E75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3" name="课堂试点与持续改进">
            <a:extLst xmlns:a="http://schemas.openxmlformats.org/drawingml/2006/main">
              <a:ext uri="{FF2B5EF4-FFF2-40B4-BE49-F238E27FC236}">
                <a16:creationId xmlns:a16="http://schemas.microsoft.com/office/drawing/2014/main" id="{ACC34A78-97D4-4F8E-B321-2D7BAF0F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课堂试点与持续改进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385D0848-5470-4149-AEDE-A042719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课堂试点">
            <a:extLst xmlns:a="http://schemas.openxmlformats.org/drawingml/2006/main">
              <a:ext uri="{FF2B5EF4-FFF2-40B4-BE49-F238E27FC236}">
                <a16:creationId xmlns:a16="http://schemas.microsoft.com/office/drawing/2014/main" id="{C1D31251-9394-4BFB-8BA3-029E7CCE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14575"/>
            <a:ext cx="3667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课堂试点</a:t>
            </a:r>
          </a:p>
        </p:txBody>
      </p:sp>
      <p:sp>
        <p:nvSpPr>
          <p:cNvPr id="6" name="一门课程、少量代表性任务">
            <a:extLst xmlns:a="http://schemas.openxmlformats.org/drawingml/2006/main">
              <a:ext uri="{FF2B5EF4-FFF2-40B4-BE49-F238E27FC236}">
                <a16:creationId xmlns:a16="http://schemas.microsoft.com/office/drawing/2014/main" id="{A3593089-FD73-4E3C-A54E-13D4DC9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一门课程、少量代表性任务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4976E7F-32AB-4E56-94CC-52670E3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145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教师复核">
            <a:extLst xmlns:a="http://schemas.openxmlformats.org/drawingml/2006/main">
              <a:ext uri="{FF2B5EF4-FFF2-40B4-BE49-F238E27FC236}">
                <a16:creationId xmlns:a16="http://schemas.microsoft.com/office/drawing/2014/main" id="{2FE9A402-16C5-40A4-BD86-28AAD626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14575"/>
            <a:ext cx="3667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教师复核</a:t>
            </a:r>
          </a:p>
        </p:txBody>
      </p:sp>
      <p:sp>
        <p:nvSpPr>
          <p:cNvPr id="9" name="收集反馈，审核典型交互">
            <a:extLst xmlns:a="http://schemas.openxmlformats.org/drawingml/2006/main">
              <a:ext uri="{FF2B5EF4-FFF2-40B4-BE49-F238E27FC236}">
                <a16:creationId xmlns:a16="http://schemas.microsoft.com/office/drawing/2014/main" id="{3A3926FE-0199-4769-A239-80E2715C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0375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收集反馈，审核典型交互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D4C1B211-8BB7-4374-A740-60CF2F0D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29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1" name="产品改进">
            <a:extLst xmlns:a="http://schemas.openxmlformats.org/drawingml/2006/main">
              <a:ext uri="{FF2B5EF4-FFF2-40B4-BE49-F238E27FC236}">
                <a16:creationId xmlns:a16="http://schemas.microsoft.com/office/drawing/2014/main" id="{8F94A5AA-9994-4D92-B5AF-64145ACF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3667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产品改进</a:t>
            </a:r>
          </a:p>
        </p:txBody>
      </p:sp>
      <p:sp>
        <p:nvSpPr>
          <p:cNvPr id="12" name="修订规则与评价标准，验证效果">
            <a:extLst xmlns:a="http://schemas.openxmlformats.org/drawingml/2006/main">
              <a:ext uri="{FF2B5EF4-FFF2-40B4-BE49-F238E27FC236}">
                <a16:creationId xmlns:a16="http://schemas.microsoft.com/office/drawing/2014/main" id="{160C563B-4E1E-489A-8C95-624FE84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修订规则与评价标准，验证效果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9895758C-AEF2-4E21-988C-3A4E5601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4" name="扩大试点">
            <a:extLst xmlns:a="http://schemas.openxmlformats.org/drawingml/2006/main">
              <a:ext uri="{FF2B5EF4-FFF2-40B4-BE49-F238E27FC236}">
                <a16:creationId xmlns:a16="http://schemas.microsoft.com/office/drawing/2014/main" id="{46B5A02E-803F-4A6B-807A-C95A9EE0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29125"/>
            <a:ext cx="3667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扩大试点</a:t>
            </a:r>
          </a:p>
        </p:txBody>
      </p:sp>
      <p:sp>
        <p:nvSpPr>
          <p:cNvPr id="15" name="向更多课堂推广，积累新反馈">
            <a:extLst xmlns:a="http://schemas.openxmlformats.org/drawingml/2006/main">
              <a:ext uri="{FF2B5EF4-FFF2-40B4-BE49-F238E27FC236}">
                <a16:creationId xmlns:a16="http://schemas.microsoft.com/office/drawing/2014/main" id="{76625069-2ADF-4704-AD2C-A55E42A5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向更多课堂推广，积累新反馈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8D2AC-EDF5-408C-9768-1A5FC958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2676525"/>
            <a:ext cx="742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5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6BAD5-FA4D-4763-948E-DE417D23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36861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5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29270-69E2-4096-942D-FF90EDAB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391150" y="4791075"/>
            <a:ext cx="742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5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D91F0-46A0-4D86-B326-84C80BB1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600325" y="36861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5D1"/>
          </a:solidFill>
          <a:ln xmlns:a="http://schemas.openxmlformats.org/drawingml/2006/main" w="0">
            <a:noFill/>
          </a:ln>
        </p:spPr>
      </p:sp>
      <p:sp>
        <p:nvSpPr>
          <p:cNvPr id="20" name="经过审核的数据持续改善边界规则、评价标准与后续模型">
            <a:extLst xmlns:a="http://schemas.openxmlformats.org/drawingml/2006/main">
              <a:ext uri="{FF2B5EF4-FFF2-40B4-BE49-F238E27FC236}">
                <a16:creationId xmlns:a16="http://schemas.microsoft.com/office/drawing/2014/main" id="{A7260066-6241-4158-849D-50841734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经过审核的数据持续改善边界规则、评价标准与后续模型训练</a:t>
            </a:r>
          </a:p>
        </p:txBody>
      </p:sp>
    </p:spTree>
    <p:extLst>
      <p:ext uri="{BB962C8B-B14F-4D97-AF65-F5344CB8AC3E}">
        <p14:creationId xmlns:p14="http://schemas.microsoft.com/office/powerpoint/2010/main" val="20519791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CB119-8F7C-4ED1-B262-F097C7DE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87322-9A54-454B-84A6-300BE328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B8CC1-47D7-42EC-AF98-9AE0D45FF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5f0990aec4f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53304-4938-4F6F-A27F-E91D28B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19225"/>
            <a:ext cx="64770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让学生学会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驾驭智能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9BE25-0778-409E-BFE0-5975B6C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理解问题，作出决策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指挥 AI，验证结果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B838E-4AE0-43F0-882D-1E7148AA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24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张京鹏   人工智能学院</a:t>
            </a:r>
          </a:p>
        </p:txBody>
      </p:sp>
    </p:spTree>
    <p:extLst>
      <p:ext uri="{BB962C8B-B14F-4D97-AF65-F5344CB8AC3E}">
        <p14:creationId xmlns:p14="http://schemas.microsoft.com/office/powerpoint/2010/main" val="133425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2026-10-13T10:18:15.2890000Z</dcterms:created>
  <dcterms:modified xsi:type="dcterms:W3CDTF">2026-10-13T10:18:15.2890000Z</dcterms:modified>
</coreProperties>
</file>